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1" r:id="rId5"/>
    <p:sldId id="281" r:id="rId6"/>
    <p:sldId id="259" r:id="rId7"/>
    <p:sldId id="263" r:id="rId8"/>
    <p:sldId id="271" r:id="rId9"/>
    <p:sldId id="273" r:id="rId10"/>
    <p:sldId id="270" r:id="rId11"/>
    <p:sldId id="272" r:id="rId12"/>
    <p:sldId id="262" r:id="rId13"/>
    <p:sldId id="264" r:id="rId14"/>
    <p:sldId id="269" r:id="rId15"/>
    <p:sldId id="274" r:id="rId16"/>
    <p:sldId id="275" r:id="rId17"/>
    <p:sldId id="276" r:id="rId18"/>
    <p:sldId id="277" r:id="rId19"/>
    <p:sldId id="278" r:id="rId20"/>
    <p:sldId id="282" r:id="rId21"/>
    <p:sldId id="279" r:id="rId22"/>
    <p:sldId id="280" r:id="rId23"/>
    <p:sldId id="283" r:id="rId24"/>
    <p:sldId id="284" r:id="rId25"/>
  </p:sldIdLst>
  <p:sldSz cx="24384000" cy="13716000"/>
  <p:notesSz cx="6858000" cy="9144000"/>
  <p:embeddedFontLs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KRiMRnIP7qsZDfWs0QIaIDMcU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990" y="240"/>
      </p:cViewPr>
      <p:guideLst>
        <p:guide orient="horz" pos="4320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114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578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726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2750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875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504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9426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8083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6616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6781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301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58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915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757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635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8580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3110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206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855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105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902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0923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2"/>
          <p:cNvCxnSpPr/>
          <p:nvPr/>
        </p:nvCxnSpPr>
        <p:spPr>
          <a:xfrm rot="10800000" flipH="1">
            <a:off x="762000" y="8635632"/>
            <a:ext cx="22860000" cy="369"/>
          </a:xfrm>
          <a:prstGeom prst="straightConnector1">
            <a:avLst/>
          </a:prstGeom>
          <a:noFill/>
          <a:ln w="508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2" name="Google Shape;12;p12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300"/>
              <a:buFont typeface="Arial"/>
              <a:buNone/>
              <a:defRPr sz="30300"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body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23063198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body" idx="2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>
            <a:spLocks noGrp="1"/>
          </p:cNvSpPr>
          <p:nvPr>
            <p:ph type="pic" idx="2"/>
          </p:nvPr>
        </p:nvSpPr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2" name="Google Shape;22;p14"/>
          <p:cNvCxnSpPr/>
          <p:nvPr/>
        </p:nvCxnSpPr>
        <p:spPr>
          <a:xfrm rot="10800000" flipH="1">
            <a:off x="762000" y="8635632"/>
            <a:ext cx="22860000" cy="369"/>
          </a:xfrm>
          <a:prstGeom prst="straightConnector1">
            <a:avLst/>
          </a:prstGeom>
          <a:noFill/>
          <a:ln w="50800" cap="flat" cmpd="sng">
            <a:solidFill>
              <a:srgbClr val="A6AAA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300"/>
              <a:buFont typeface="Arial"/>
              <a:buNone/>
              <a:defRPr sz="30300"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3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23063198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Alt">
  <p:cSld name="Title &amp; Subtitle Al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15"/>
          <p:cNvCxnSpPr/>
          <p:nvPr/>
        </p:nvCxnSpPr>
        <p:spPr>
          <a:xfrm rot="10800000" flipH="1">
            <a:off x="762000" y="8635632"/>
            <a:ext cx="22860000" cy="369"/>
          </a:xfrm>
          <a:prstGeom prst="straightConnector1">
            <a:avLst/>
          </a:prstGeom>
          <a:noFill/>
          <a:ln w="508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300"/>
              <a:buFont typeface="Arial"/>
              <a:buNone/>
              <a:defRPr sz="30300"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23013220" y="584200"/>
            <a:ext cx="55319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300"/>
              <a:buFont typeface="Arial"/>
              <a:buNone/>
              <a:defRPr sz="30300"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23063198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17"/>
          <p:cNvCxnSpPr/>
          <p:nvPr/>
        </p:nvCxnSpPr>
        <p:spPr>
          <a:xfrm rot="10800000" flipH="1">
            <a:off x="11049000" y="8635798"/>
            <a:ext cx="12572997" cy="203"/>
          </a:xfrm>
          <a:prstGeom prst="straightConnector1">
            <a:avLst/>
          </a:prstGeom>
          <a:noFill/>
          <a:ln w="508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6" name="Google Shape;36;p17"/>
          <p:cNvSpPr>
            <a:spLocks noGrp="1"/>
          </p:cNvSpPr>
          <p:nvPr>
            <p:ph type="pic" idx="2"/>
          </p:nvPr>
        </p:nvSpPr>
        <p:spPr>
          <a:xfrm>
            <a:off x="0" y="0"/>
            <a:ext cx="102870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300"/>
              <a:buFont typeface="Arial"/>
              <a:buNone/>
              <a:defRPr sz="30300"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80000"/>
              </a:lnSpc>
              <a:spcBef>
                <a:spcPts val="3200"/>
              </a:spcBef>
              <a:spcAft>
                <a:spcPts val="0"/>
              </a:spcAft>
              <a:buClr>
                <a:srgbClr val="A6AAA9"/>
              </a:buClr>
              <a:buSzPts val="7700"/>
              <a:buFont typeface="Arial"/>
              <a:buNone/>
              <a:defRPr sz="7700" cap="non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23063198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body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 Alt">
  <p:cSld name="Title &amp; Bullets Al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body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90"/>
              <a:buChar char="▸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>
            <a:spLocks noGrp="1"/>
          </p:cNvSpPr>
          <p:nvPr>
            <p:ph type="pic" idx="2"/>
          </p:nvPr>
        </p:nvSpPr>
        <p:spPr>
          <a:xfrm>
            <a:off x="13335000" y="2159000"/>
            <a:ext cx="10287000" cy="10795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0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3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49530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4200"/>
              <a:buChar char="▸"/>
              <a:defRPr sz="4000"/>
            </a:lvl1pPr>
            <a:lvl2pPr marL="914400" lvl="1" indent="-49530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4200"/>
              <a:buChar char="▸"/>
              <a:defRPr sz="4000"/>
            </a:lvl2pPr>
            <a:lvl3pPr marL="1371600" lvl="2" indent="-49530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4200"/>
              <a:buChar char="▸"/>
              <a:defRPr sz="4000"/>
            </a:lvl3pPr>
            <a:lvl4pPr marL="1828800" lvl="3" indent="-49530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4200"/>
              <a:buChar char="▸"/>
              <a:defRPr sz="4000"/>
            </a:lvl4pPr>
            <a:lvl5pPr marL="2286000" lvl="4" indent="-49530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4200"/>
              <a:buChar char="▸"/>
              <a:defRPr sz="4000"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2250"/>
              <a:buChar char="▸"/>
              <a:defRPr/>
            </a:lvl1pPr>
            <a:lvl2pPr marL="914400" lvl="1" indent="-37147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2250"/>
              <a:buChar char="▸"/>
              <a:defRPr/>
            </a:lvl2pPr>
            <a:lvl3pPr marL="1371600" lvl="2" indent="-37147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2250"/>
              <a:buChar char="▸"/>
              <a:defRPr/>
            </a:lvl3pPr>
            <a:lvl4pPr marL="1828800" lvl="3" indent="-37147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2250"/>
              <a:buChar char="▸"/>
              <a:defRPr/>
            </a:lvl4pPr>
            <a:lvl5pPr marL="2286000" lvl="4" indent="-37147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2250"/>
              <a:buChar char="▸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>
            <a:spLocks noGrp="1"/>
          </p:cNvSpPr>
          <p:nvPr>
            <p:ph type="pic" idx="2"/>
          </p:nvPr>
        </p:nvSpPr>
        <p:spPr>
          <a:xfrm>
            <a:off x="12192000" y="0"/>
            <a:ext cx="12192000" cy="68326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2"/>
          <p:cNvSpPr>
            <a:spLocks noGrp="1"/>
          </p:cNvSpPr>
          <p:nvPr>
            <p:ph type="pic" idx="3"/>
          </p:nvPr>
        </p:nvSpPr>
        <p:spPr>
          <a:xfrm>
            <a:off x="12192000" y="6896100"/>
            <a:ext cx="12192000" cy="68199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2"/>
          <p:cNvSpPr>
            <a:spLocks noGrp="1"/>
          </p:cNvSpPr>
          <p:nvPr>
            <p:ph type="pic" idx="4"/>
          </p:nvPr>
        </p:nvSpPr>
        <p:spPr>
          <a:xfrm>
            <a:off x="0" y="0"/>
            <a:ext cx="121285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2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0"/>
              <a:buFont typeface="Arial"/>
              <a:buNone/>
              <a:defRPr sz="134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2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8700"/>
              <a:buFont typeface="Arial"/>
              <a:buNone/>
              <a:defRPr sz="8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lt">
  <p:cSld name="Quote Al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body" idx="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0"/>
              <a:buFont typeface="Arial"/>
              <a:buNone/>
              <a:defRPr sz="134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>
            <a:spLocks noGrp="1"/>
          </p:cNvSpPr>
          <p:nvPr>
            <p:ph type="pic" idx="2"/>
          </p:nvPr>
        </p:nvSpPr>
        <p:spPr>
          <a:xfrm>
            <a:off x="0" y="0"/>
            <a:ext cx="102870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4"/>
          <p:cNvSpPr txBox="1">
            <a:spLocks noGrp="1"/>
          </p:cNvSpPr>
          <p:nvPr>
            <p:ph type="body" idx="3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8700"/>
              <a:buFont typeface="Arial"/>
              <a:buNone/>
              <a:defRPr sz="87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2pPr>
            <a:lvl3pPr marL="1371600" lvl="2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3pPr>
            <a:lvl4pPr marL="1828800" lvl="3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4pPr>
            <a:lvl5pPr marL="2286000" lvl="4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5pPr>
            <a:lvl6pPr marL="2743200" lvl="5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6pPr>
            <a:lvl7pPr marL="3200400" lvl="6" indent="-348614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7pPr>
            <a:lvl8pPr marL="3657600" lvl="7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8pPr>
            <a:lvl9pPr marL="4114800" lvl="8" indent="-348615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1890"/>
              <a:buChar char="‣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>
            <a:spLocks noGrp="1"/>
          </p:cNvSpPr>
          <p:nvPr>
            <p:ph type="pic" idx="2"/>
          </p:nvPr>
        </p:nvSpPr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Alt">
  <p:cSld name="Blank Al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1"/>
          <p:cNvCxnSpPr/>
          <p:nvPr/>
        </p:nvCxnSpPr>
        <p:spPr>
          <a:xfrm rot="10800000" flipH="1">
            <a:off x="762000" y="1396632"/>
            <a:ext cx="22860000" cy="369"/>
          </a:xfrm>
          <a:prstGeom prst="straightConnector1">
            <a:avLst/>
          </a:prstGeom>
          <a:noFill/>
          <a:ln w="254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0000"/>
              </a:lnSpc>
              <a:spcBef>
                <a:spcPts val="3900"/>
              </a:spcBef>
              <a:spcAft>
                <a:spcPts val="0"/>
              </a:spcAft>
              <a:buClr>
                <a:schemeClr val="accent1"/>
              </a:buClr>
              <a:buSzPts val="8700"/>
              <a:buFont typeface="Arial"/>
              <a:buNone/>
              <a:defRPr sz="8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548640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548640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548639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548639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548639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548639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548639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548639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548640" algn="l" rtl="0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38A3D5"/>
              </a:buClr>
              <a:buSzPts val="5040"/>
              <a:buFont typeface="Avenir"/>
              <a:buChar char="‣"/>
              <a:defRPr sz="4800" b="0" i="0" u="none" strike="noStrike" cap="non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sldNum" idx="1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ctrTitle" idx="4294967295"/>
          </p:nvPr>
        </p:nvSpPr>
        <p:spPr>
          <a:xfrm>
            <a:off x="762000" y="9042399"/>
            <a:ext cx="22732520" cy="398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r>
              <a:rPr lang="es-ES" sz="9600" dirty="0"/>
              <a:t>Simulador híbrido físico-virtual para el entrenamiento de resección de pólipos intestinales</a:t>
            </a:r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4294967295"/>
          </p:nvPr>
        </p:nvSpPr>
        <p:spPr>
          <a:xfrm>
            <a:off x="762000" y="5709920"/>
            <a:ext cx="22860000" cy="282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/>
          <a:p>
            <a:pPr marL="0" marR="0" lvl="0" indent="0" algn="l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5000"/>
              <a:buFont typeface="Avenir"/>
              <a:buNone/>
            </a:pPr>
            <a:r>
              <a:rPr lang="es-ES" sz="5000" dirty="0" smtClean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Por: Alejandro Eduardo Albarracin Rodriguez</a:t>
            </a:r>
            <a:endParaRPr sz="5000" b="0" i="0" u="none" strike="noStrike" cap="none" dirty="0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20000"/>
              </a:lnSpc>
              <a:spcBef>
                <a:spcPts val="3200"/>
              </a:spcBef>
              <a:buClr>
                <a:srgbClr val="1E1E1E"/>
              </a:buClr>
              <a:buSzPts val="2000"/>
              <a:buNone/>
            </a:pPr>
            <a:r>
              <a:rPr lang="en-US" sz="2000" b="1" i="0" u="none" strike="noStrike" cap="none" dirty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TUTOR</a:t>
            </a:r>
            <a:r>
              <a:rPr lang="en-US" sz="2000" b="1" dirty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: Guillermo Enrique Manning Soria </a:t>
            </a:r>
            <a:r>
              <a:rPr lang="en-US" sz="2000" b="1" dirty="0" err="1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Galvarro</a:t>
            </a:r>
            <a:endParaRPr lang="en-US" sz="2000" b="1" i="0" u="none" strike="noStrike" cap="none" dirty="0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20000"/>
              </a:lnSpc>
              <a:spcBef>
                <a:spcPts val="3200"/>
              </a:spcBef>
              <a:buClr>
                <a:srgbClr val="1E1E1E"/>
              </a:buClr>
              <a:buSzPts val="2000"/>
              <a:buNone/>
            </a:pPr>
            <a:r>
              <a:rPr lang="en-US" sz="2000" b="1" dirty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PANELISTA: </a:t>
            </a:r>
            <a:r>
              <a:rPr lang="en-US" sz="2000" b="1" dirty="0" smtClean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Xavier </a:t>
            </a:r>
            <a:r>
              <a:rPr lang="en-US" sz="2000" b="1" dirty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Alexis Murillo Sanchez</a:t>
            </a:r>
            <a:endParaRPr sz="2000" b="1" dirty="0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20000"/>
              </a:lnSpc>
              <a:spcBef>
                <a:spcPts val="3200"/>
              </a:spcBef>
              <a:buClr>
                <a:srgbClr val="1E1E1E"/>
              </a:buClr>
              <a:buSzPts val="2000"/>
              <a:buNone/>
            </a:pPr>
            <a:r>
              <a:rPr lang="en-US" sz="2000" b="1" i="0" u="none" strike="noStrike" cap="none" dirty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RELATOR: </a:t>
            </a:r>
            <a:r>
              <a:rPr lang="en-US" sz="2000" b="1" dirty="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Andrés Leonardo Gutierrez Rocha</a:t>
            </a:r>
            <a:endParaRPr sz="2000" b="1" i="0" u="none" strike="noStrike" cap="none" dirty="0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79228" y="1272535"/>
            <a:ext cx="23622000" cy="59503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4000"/>
              <a:buFont typeface="Avenir"/>
              <a:buNone/>
            </a:pP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5396723-CDF6-A0D7-E88B-02C51035B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28" y="667634"/>
            <a:ext cx="16202783" cy="2959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21"/>
              <a:buFont typeface="Arial"/>
              <a:buNone/>
            </a:pPr>
            <a:r>
              <a:rPr lang="en-US" sz="7221" b="0" i="0" u="none" strike="noStrike" cap="none" dirty="0" err="1" smtClean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2"/>
          </p:nvPr>
        </p:nvSpPr>
        <p:spPr>
          <a:xfrm>
            <a:off x="403168" y="2834767"/>
            <a:ext cx="23491560" cy="8714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400" dirty="0"/>
              <a:t>La Organización Mundial de la Salud (a través de datos recopilados en </a:t>
            </a:r>
            <a:r>
              <a:rPr lang="es-ES" sz="4400" i="1" dirty="0" err="1"/>
              <a:t>World</a:t>
            </a:r>
            <a:r>
              <a:rPr lang="es-ES" sz="4400" i="1" dirty="0"/>
              <a:t> </a:t>
            </a:r>
            <a:r>
              <a:rPr lang="es-ES" sz="4400" i="1" dirty="0" err="1"/>
              <a:t>Life</a:t>
            </a:r>
            <a:r>
              <a:rPr lang="es-ES" sz="4400" i="1" dirty="0"/>
              <a:t> </a:t>
            </a:r>
            <a:r>
              <a:rPr lang="es-ES" sz="4400" i="1" dirty="0" err="1"/>
              <a:t>Expectancy</a:t>
            </a:r>
            <a:r>
              <a:rPr lang="es-ES" sz="4400" dirty="0"/>
              <a:t>) indica que en Bolivia hubo cerca de </a:t>
            </a:r>
            <a:r>
              <a:rPr lang="es-ES" sz="4400" b="1" dirty="0"/>
              <a:t>407 muertes atribuidas al cáncer </a:t>
            </a:r>
            <a:r>
              <a:rPr lang="es-ES" sz="4400" b="1" dirty="0" err="1" smtClean="0"/>
              <a:t>colorrectal</a:t>
            </a:r>
            <a:r>
              <a:rPr lang="es-ES" sz="4400" b="1" dirty="0" smtClean="0"/>
              <a:t> en 2020.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400" b="1" dirty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400" dirty="0" smtClean="0"/>
              <a:t>En Bolivia, </a:t>
            </a:r>
            <a:r>
              <a:rPr lang="es-ES" sz="4400" dirty="0"/>
              <a:t>la escasez de </a:t>
            </a:r>
            <a:r>
              <a:rPr lang="es-ES" sz="4400" dirty="0" smtClean="0"/>
              <a:t>simuladores clínicos </a:t>
            </a:r>
            <a:r>
              <a:rPr lang="es-ES" sz="4400" dirty="0"/>
              <a:t>o equipos de </a:t>
            </a:r>
            <a:r>
              <a:rPr lang="es-ES" sz="4400" dirty="0" smtClean="0"/>
              <a:t>práctica </a:t>
            </a:r>
            <a:r>
              <a:rPr lang="es-ES" sz="4400" dirty="0"/>
              <a:t>especializados en el </a:t>
            </a:r>
            <a:r>
              <a:rPr lang="es-ES" sz="4400" dirty="0" smtClean="0"/>
              <a:t>país </a:t>
            </a:r>
            <a:r>
              <a:rPr lang="es-ES" sz="4400" dirty="0"/>
              <a:t>obliga a que gran parte del aprendizaje </a:t>
            </a:r>
            <a:r>
              <a:rPr lang="es-ES" sz="4400" dirty="0" smtClean="0"/>
              <a:t>de procedimientos endoscópicos </a:t>
            </a:r>
            <a:r>
              <a:rPr lang="es-ES" sz="4400" dirty="0"/>
              <a:t>se realice directamente sobre pacientes </a:t>
            </a:r>
            <a:r>
              <a:rPr lang="es-ES" sz="4400" dirty="0" smtClean="0"/>
              <a:t>reales.</a:t>
            </a:r>
            <a:endParaRPr sz="4400"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Leonardo 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Gutierrez Rocha </a:t>
            </a:r>
            <a:endParaRPr lang="en-US"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729205" y="11395271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931" y="7614805"/>
            <a:ext cx="9164033" cy="3596013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6404114" y="11087258"/>
            <a:ext cx="115706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>
                <a:latin typeface="-apple-system"/>
              </a:rPr>
              <a:t>Datos de la Organización Mundial de la Salud (OMS), vía </a:t>
            </a:r>
            <a:r>
              <a:rPr lang="es-ES" sz="2400" i="1" dirty="0" err="1">
                <a:latin typeface="-apple-system"/>
              </a:rPr>
              <a:t>World</a:t>
            </a:r>
            <a:r>
              <a:rPr lang="es-ES" sz="2400" i="1" dirty="0">
                <a:latin typeface="-apple-system"/>
              </a:rPr>
              <a:t> </a:t>
            </a:r>
            <a:r>
              <a:rPr lang="es-ES" sz="2400" i="1" dirty="0" err="1">
                <a:latin typeface="-apple-system"/>
              </a:rPr>
              <a:t>Life</a:t>
            </a:r>
            <a:r>
              <a:rPr lang="es-ES" sz="2400" i="1" dirty="0">
                <a:latin typeface="-apple-system"/>
              </a:rPr>
              <a:t> </a:t>
            </a:r>
            <a:r>
              <a:rPr lang="es-ES" sz="2400" i="1" dirty="0" err="1">
                <a:latin typeface="-apple-system"/>
              </a:rPr>
              <a:t>Expectancy</a:t>
            </a:r>
            <a:r>
              <a:rPr lang="es-ES" sz="2400" i="1" dirty="0">
                <a:latin typeface="-apple-system"/>
              </a:rPr>
              <a:t>.</a:t>
            </a:r>
            <a:endParaRPr lang="en-US" sz="2400" i="1" dirty="0">
              <a:latin typeface="-apple-syste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Planteamiento</a:t>
            </a:r>
            <a:r>
              <a:rPr lang="en-US" sz="8000" dirty="0"/>
              <a:t> del </a:t>
            </a:r>
            <a:r>
              <a:rPr lang="en-US" sz="8000" dirty="0" err="1"/>
              <a:t>P</a:t>
            </a:r>
            <a:r>
              <a:rPr lang="en-US" sz="8000" dirty="0" err="1" smtClean="0"/>
              <a:t>roblema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2"/>
          </p:nvPr>
        </p:nvSpPr>
        <p:spPr>
          <a:xfrm>
            <a:off x="403168" y="2834229"/>
            <a:ext cx="10956494" cy="129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70000" lnSpcReduction="20000"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400" dirty="0"/>
              <a:t>Simuladores comerciales de alta fidelidad (GI Mentor</a:t>
            </a:r>
            <a:r>
              <a:rPr lang="es-ES" sz="4400" dirty="0" smtClean="0"/>
              <a:t>) muy realistas, </a:t>
            </a:r>
            <a:r>
              <a:rPr lang="es-ES" sz="4400" dirty="0"/>
              <a:t>pero con costos prohibitivos (&gt;USD 60,000</a:t>
            </a:r>
            <a:r>
              <a:rPr lang="es-ES" sz="4400" dirty="0" smtClean="0"/>
              <a:t>).</a:t>
            </a:r>
            <a:endParaRPr sz="4400"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Leonardo Gutierrez Rocha </a:t>
            </a:r>
            <a:endParaRPr lang="en-US" sz="1800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729205" y="11395271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2" name="Google Shape;98;p2"/>
          <p:cNvSpPr txBox="1">
            <a:spLocks noGrp="1"/>
          </p:cNvSpPr>
          <p:nvPr>
            <p:ph type="body" idx="2"/>
          </p:nvPr>
        </p:nvSpPr>
        <p:spPr>
          <a:xfrm>
            <a:off x="12148948" y="2834229"/>
            <a:ext cx="10956494" cy="129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77500" lnSpcReduction="20000"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400" dirty="0"/>
              <a:t>Soluciones locales de simulación médica — acceso más </a:t>
            </a:r>
            <a:r>
              <a:rPr lang="es-ES" sz="4400" dirty="0" smtClean="0"/>
              <a:t>amplio, </a:t>
            </a:r>
            <a:r>
              <a:rPr lang="es-ES" sz="4400" dirty="0"/>
              <a:t>pero con limitaciones técnicas.</a:t>
            </a:r>
            <a:endParaRPr sz="4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991" y="4336834"/>
            <a:ext cx="4286848" cy="573485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7660" y="4567667"/>
            <a:ext cx="7919069" cy="5266181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3663936" y="9840852"/>
            <a:ext cx="83406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i="1" dirty="0">
                <a:latin typeface="-apple-system"/>
              </a:rPr>
              <a:t>Capacitación en el Centro de </a:t>
            </a:r>
            <a:r>
              <a:rPr lang="es-ES" sz="2400" i="1" dirty="0" smtClean="0">
                <a:latin typeface="-apple-system"/>
              </a:rPr>
              <a:t>Capacitación WGO </a:t>
            </a:r>
            <a:r>
              <a:rPr lang="es-ES" sz="2400" i="1" dirty="0">
                <a:latin typeface="-apple-system"/>
              </a:rPr>
              <a:t>La Paz.</a:t>
            </a:r>
            <a:endParaRPr lang="en-US" sz="2400" dirty="0"/>
          </a:p>
        </p:txBody>
      </p:sp>
      <p:sp>
        <p:nvSpPr>
          <p:cNvPr id="15" name="Rectángulo 14"/>
          <p:cNvSpPr/>
          <p:nvPr/>
        </p:nvSpPr>
        <p:spPr>
          <a:xfrm>
            <a:off x="3159567" y="10216707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i="1" dirty="0" smtClean="0">
                <a:latin typeface="-apple-system"/>
              </a:rPr>
              <a:t>Simulador </a:t>
            </a:r>
            <a:r>
              <a:rPr lang="es-ES" sz="2400" i="1" dirty="0">
                <a:latin typeface="-apple-system"/>
              </a:rPr>
              <a:t>G</a:t>
            </a:r>
            <a:r>
              <a:rPr lang="es-ES" sz="2400" i="1" dirty="0" smtClean="0">
                <a:latin typeface="-apple-system"/>
              </a:rPr>
              <a:t>i </a:t>
            </a:r>
            <a:r>
              <a:rPr lang="es-ES" sz="2400" i="1" dirty="0">
                <a:latin typeface="-apple-system"/>
              </a:rPr>
              <a:t>M</a:t>
            </a:r>
            <a:r>
              <a:rPr lang="es-ES" sz="2400" i="1" dirty="0" smtClean="0">
                <a:latin typeface="-apple-system"/>
              </a:rPr>
              <a:t>entor para Endoscopia</a:t>
            </a:r>
            <a:r>
              <a:rPr lang="es-ES" sz="2400" i="1" dirty="0" smtClean="0">
                <a:latin typeface="-apple-system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370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 smtClean="0"/>
              <a:t>Objetivo</a:t>
            </a:r>
            <a:r>
              <a:rPr lang="en-US" sz="8000" dirty="0" smtClean="0"/>
              <a:t> General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3499317"/>
            <a:ext cx="23255132" cy="613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6000" dirty="0"/>
              <a:t>Diseñar un simulador de resección de pólipos intestinales de bajo costo, con integración físico–virtual, con la finalidad de apoyar la práctica y entrenamiento en endoscopia terapéutica en entornos académicos con recursos limitados, permitiendo evaluar precisión, tiempo de respuesta y seguridad durante la práctica endoscópica simulada.</a:t>
            </a:r>
            <a:endParaRPr sz="6000"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Leonardo Gutierrez Rocha </a:t>
            </a:r>
            <a:endParaRPr lang="en-US" sz="1800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729205" y="11395271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s-ES" sz="8000" dirty="0"/>
              <a:t>Estado del Arte y Ventaja Competitiva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Leonardo Gutierrez Rocha </a:t>
            </a:r>
            <a:endParaRPr lang="en-US" sz="1800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729205" y="11395271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223146"/>
              </p:ext>
            </p:extLst>
          </p:nvPr>
        </p:nvGraphicFramePr>
        <p:xfrm>
          <a:off x="1125415" y="4389363"/>
          <a:ext cx="22174200" cy="570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0">
                  <a:extLst>
                    <a:ext uri="{9D8B030D-6E8A-4147-A177-3AD203B41FA5}">
                      <a16:colId xmlns:a16="http://schemas.microsoft.com/office/drawing/2014/main" val="1162694405"/>
                    </a:ext>
                  </a:extLst>
                </a:gridCol>
              </a:tblGrid>
              <a:tr h="1901792">
                <a:tc>
                  <a:txBody>
                    <a:bodyPr/>
                    <a:lstStyle/>
                    <a:p>
                      <a:r>
                        <a:rPr lang="es-ES" sz="4000" b="0" i="1" dirty="0" smtClean="0">
                          <a:solidFill>
                            <a:schemeClr val="bg2"/>
                          </a:solidFill>
                        </a:rPr>
                        <a:t>Simuladores Comerciales (ej. GI Mentor):</a:t>
                      </a:r>
                      <a:r>
                        <a:rPr lang="es-ES" sz="4000" b="0" dirty="0" smtClean="0">
                          <a:solidFill>
                            <a:schemeClr val="bg2"/>
                          </a:solidFill>
                        </a:rPr>
                        <a:t> Alta fidelidad, pero cerrados y con costo &gt; $60,000 USD.</a:t>
                      </a:r>
                      <a:endParaRPr lang="en-US" sz="4000" b="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82769"/>
                  </a:ext>
                </a:extLst>
              </a:tr>
              <a:tr h="1901792">
                <a:tc>
                  <a:txBody>
                    <a:bodyPr/>
                    <a:lstStyle/>
                    <a:p>
                      <a:r>
                        <a:rPr lang="es-ES" sz="4000" i="1" dirty="0" smtClean="0"/>
                        <a:t>Prototipos Académicos Actuales:</a:t>
                      </a:r>
                      <a:r>
                        <a:rPr lang="es-ES" sz="4000" dirty="0" smtClean="0"/>
                        <a:t> Bajo costo, pero sufren de alta latencia, desgaste mecánico,</a:t>
                      </a:r>
                      <a:r>
                        <a:rPr lang="es-ES" sz="4000" baseline="0" dirty="0" smtClean="0"/>
                        <a:t> </a:t>
                      </a:r>
                      <a:r>
                        <a:rPr lang="es-ES" sz="4000" dirty="0" smtClean="0"/>
                        <a:t>ruido mecánico y poca fidelidad</a:t>
                      </a:r>
                      <a:r>
                        <a:rPr lang="es-ES" sz="4000" baseline="0" dirty="0" smtClean="0"/>
                        <a:t> práctica</a:t>
                      </a:r>
                      <a:r>
                        <a:rPr lang="es-ES" sz="4000" dirty="0" smtClean="0"/>
                        <a:t>.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231649"/>
                  </a:ext>
                </a:extLst>
              </a:tr>
              <a:tr h="1901792">
                <a:tc>
                  <a:txBody>
                    <a:bodyPr/>
                    <a:lstStyle/>
                    <a:p>
                      <a:r>
                        <a:rPr lang="es-ES" sz="4000" i="1" dirty="0" smtClean="0"/>
                        <a:t>Nuestra Propuesta:</a:t>
                      </a:r>
                      <a:r>
                        <a:rPr lang="es-ES" sz="4000" i="1" baseline="0" dirty="0" smtClean="0"/>
                        <a:t> </a:t>
                      </a:r>
                      <a:r>
                        <a:rPr lang="es-ES" sz="4000" dirty="0" smtClean="0"/>
                        <a:t>Bajo costo, latencia asíncrona imperceptible, con</a:t>
                      </a:r>
                      <a:r>
                        <a:rPr lang="es-ES" sz="4000" baseline="0" dirty="0" smtClean="0"/>
                        <a:t> eliminación de ruidos, retroalimentación práctica. 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80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11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2354570"/>
            <a:ext cx="21073362" cy="9696627"/>
          </a:xfrm>
          <a:prstGeom prst="rect">
            <a:avLst/>
          </a:prstGeom>
        </p:spPr>
      </p:pic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Leonardo Gutierrez Rocha </a:t>
            </a:r>
            <a:endParaRPr lang="en-US" sz="1800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729205" y="11395271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98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1" y="3499317"/>
            <a:ext cx="9999701" cy="7760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n-US" sz="4000" dirty="0" err="1"/>
              <a:t>Interfaz</a:t>
            </a:r>
            <a:r>
              <a:rPr lang="en-US" sz="4000" dirty="0"/>
              <a:t> </a:t>
            </a:r>
            <a:r>
              <a:rPr lang="en-US" sz="4000" dirty="0" err="1"/>
              <a:t>Física</a:t>
            </a:r>
            <a:r>
              <a:rPr lang="en-US" sz="4000" dirty="0"/>
              <a:t> </a:t>
            </a:r>
            <a:endParaRPr lang="en-U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n-US" sz="4000" dirty="0"/>
              <a:t>Sistema </a:t>
            </a:r>
            <a:r>
              <a:rPr lang="en-US" sz="4000" dirty="0" err="1"/>
              <a:t>Embebido</a:t>
            </a:r>
            <a:r>
              <a:rPr lang="en-US" sz="4000" dirty="0"/>
              <a:t> </a:t>
            </a:r>
            <a:endParaRPr lang="en-U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n-US" sz="4000" dirty="0" err="1" smtClean="0"/>
              <a:t>Entorno</a:t>
            </a:r>
            <a:r>
              <a:rPr lang="en-US" sz="4000" dirty="0" smtClean="0"/>
              <a:t> </a:t>
            </a:r>
            <a:r>
              <a:rPr lang="en-US" sz="4000" dirty="0"/>
              <a:t>Virtual </a:t>
            </a:r>
            <a:r>
              <a:rPr lang="en-US" sz="4000" dirty="0" smtClean="0"/>
              <a:t>(Unity).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Arquitectura</a:t>
            </a:r>
            <a:r>
              <a:rPr lang="en-US" sz="8000" dirty="0"/>
              <a:t> </a:t>
            </a:r>
            <a:r>
              <a:rPr lang="en-US" sz="8000" dirty="0" err="1"/>
              <a:t>Híbrida</a:t>
            </a:r>
            <a:r>
              <a:rPr lang="en-US" sz="8000" dirty="0"/>
              <a:t> </a:t>
            </a:r>
            <a:r>
              <a:rPr lang="en-US" sz="8000" dirty="0" err="1"/>
              <a:t>Físico</a:t>
            </a:r>
            <a:r>
              <a:rPr lang="en-US" sz="8000" dirty="0"/>
              <a:t>-Virtual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585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Arquitectura</a:t>
            </a:r>
            <a:r>
              <a:rPr lang="en-US" sz="8000" dirty="0"/>
              <a:t> </a:t>
            </a:r>
            <a:r>
              <a:rPr lang="en-US" sz="8000" dirty="0" err="1"/>
              <a:t>Electrónica</a:t>
            </a:r>
            <a:r>
              <a:rPr lang="en-US" sz="8000" dirty="0"/>
              <a:t> </a:t>
            </a:r>
            <a:r>
              <a:rPr lang="en-US" sz="8000" dirty="0" err="1"/>
              <a:t>Embebida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Leonardo Gutierrez Rocha </a:t>
            </a:r>
            <a:endParaRPr lang="en-US" sz="1800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30" y="3248226"/>
            <a:ext cx="10800772" cy="684534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0975" y="3205997"/>
            <a:ext cx="12187883" cy="6808992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659389" y="11600326"/>
            <a:ext cx="619861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1. Diseño de circuito </a:t>
            </a:r>
            <a:r>
              <a:rPr lang="es-ES" sz="2800" i="1" u="sng" dirty="0" smtClean="0"/>
              <a:t>electrónico.</a:t>
            </a:r>
            <a:endParaRPr lang="es-ES" sz="2800" i="1" u="sng" dirty="0"/>
          </a:p>
        </p:txBody>
      </p:sp>
      <p:sp>
        <p:nvSpPr>
          <p:cNvPr id="13" name="Rectángulo 12"/>
          <p:cNvSpPr/>
          <p:nvPr/>
        </p:nvSpPr>
        <p:spPr>
          <a:xfrm>
            <a:off x="3278368" y="10058508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>
                <a:latin typeface="-apple-system"/>
              </a:rPr>
              <a:t>Circuito en </a:t>
            </a:r>
            <a:r>
              <a:rPr lang="es-BO" sz="2400" i="1" dirty="0" err="1" smtClean="0">
                <a:latin typeface="-apple-system"/>
              </a:rPr>
              <a:t>Proteus</a:t>
            </a:r>
            <a:r>
              <a:rPr lang="es-BO" sz="2400" i="1" dirty="0">
                <a:latin typeface="-apple-system"/>
              </a:rPr>
              <a:t>.</a:t>
            </a:r>
            <a:endParaRPr lang="en-US" sz="2400" i="1" dirty="0">
              <a:latin typeface="-apple-system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15053068" y="10033787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Diseños para las PCB en </a:t>
            </a:r>
            <a:r>
              <a:rPr lang="es-BO" sz="2400" i="1" dirty="0" err="1" smtClean="0">
                <a:latin typeface="-apple-system"/>
              </a:rPr>
              <a:t>Proteus</a:t>
            </a:r>
            <a:r>
              <a:rPr lang="es-BO" sz="2400" i="1" dirty="0">
                <a:latin typeface="-apple-system"/>
              </a:rPr>
              <a:t>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4434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669" y="4180701"/>
            <a:ext cx="11979812" cy="7117876"/>
          </a:xfrm>
          <a:prstGeom prst="rect">
            <a:avLst/>
          </a:prstGeom>
        </p:spPr>
      </p:pic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Leonardo Gutierrez Rocha </a:t>
            </a:r>
            <a:endParaRPr lang="en-US" sz="1800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729205" y="11395271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Sensado</a:t>
            </a:r>
            <a:r>
              <a:rPr lang="en-US" sz="8000" dirty="0"/>
              <a:t> </a:t>
            </a:r>
            <a:r>
              <a:rPr lang="en-US" sz="8000" dirty="0" err="1" smtClean="0"/>
              <a:t>Magnético</a:t>
            </a:r>
            <a:endParaRPr dirty="0"/>
          </a:p>
        </p:txBody>
      </p:sp>
      <p:sp>
        <p:nvSpPr>
          <p:cNvPr id="16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2736599"/>
            <a:ext cx="16857701" cy="215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Sustitución de potenciómetros para eliminar fricción y ruido mecánico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Sensores </a:t>
            </a:r>
            <a:r>
              <a:rPr lang="es-ES" sz="4000" dirty="0"/>
              <a:t>AS5600 con protocolo de comunicación I2C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Resolución </a:t>
            </a:r>
            <a:r>
              <a:rPr lang="es-ES" sz="4000" dirty="0"/>
              <a:t>digital de 12 bits (4096 posiciones por revolución).</a:t>
            </a:r>
            <a:endParaRPr lang="es-ES" sz="4000" dirty="0" smtClean="0"/>
          </a:p>
        </p:txBody>
      </p:sp>
      <p:sp>
        <p:nvSpPr>
          <p:cNvPr id="12" name="Rectángulo 11"/>
          <p:cNvSpPr/>
          <p:nvPr/>
        </p:nvSpPr>
        <p:spPr>
          <a:xfrm>
            <a:off x="9307727" y="11275270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err="1" smtClean="0">
                <a:latin typeface="-apple-system"/>
              </a:rPr>
              <a:t>Encoder</a:t>
            </a:r>
            <a:r>
              <a:rPr lang="es-BO" sz="2400" i="1" dirty="0">
                <a:latin typeface="-apple-system"/>
              </a:rPr>
              <a:t> </a:t>
            </a:r>
            <a:r>
              <a:rPr lang="es-BO" sz="2400" i="1" dirty="0" err="1" smtClean="0">
                <a:latin typeface="-apple-system"/>
              </a:rPr>
              <a:t>Magnetico</a:t>
            </a:r>
            <a:r>
              <a:rPr lang="es-BO" sz="2400" i="1" dirty="0" smtClean="0">
                <a:latin typeface="-apple-system"/>
              </a:rPr>
              <a:t> AS5600.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91783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RELATOR: </a:t>
            </a:r>
            <a:r>
              <a:rPr lang="en-US" sz="18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Andrés 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Leonardo Gutierrez Rocha </a:t>
            </a:r>
            <a:endParaRPr lang="en-US" sz="1800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729205" y="11395271"/>
            <a:ext cx="5531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Filtrado</a:t>
            </a:r>
            <a:r>
              <a:rPr lang="en-US" sz="8000" dirty="0"/>
              <a:t> </a:t>
            </a:r>
            <a:r>
              <a:rPr lang="en-US" sz="8000" dirty="0" err="1"/>
              <a:t>Analógico</a:t>
            </a:r>
            <a:r>
              <a:rPr lang="en-US" sz="8000" dirty="0"/>
              <a:t> y Digital</a:t>
            </a:r>
            <a:endParaRPr dirty="0"/>
          </a:p>
        </p:txBody>
      </p:sp>
      <p:sp>
        <p:nvSpPr>
          <p:cNvPr id="16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3116686"/>
            <a:ext cx="23054478" cy="38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Filtro pasivo RC por hardware (</a:t>
            </a:r>
            <a:r>
              <a:rPr lang="es-ES" sz="4000" dirty="0" err="1"/>
              <a:t>fc</a:t>
            </a:r>
            <a:r>
              <a:rPr lang="es-ES" sz="4000" dirty="0"/>
              <a:t> ≈ 159 Hz) para absorción de transitorios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Algoritmo digital (Firmware): Máquina de estados de 16 posiciones mediante interrupciones (EXTI) y </a:t>
            </a:r>
            <a:r>
              <a:rPr lang="es-ES" sz="4000" dirty="0" err="1"/>
              <a:t>Debounce</a:t>
            </a:r>
            <a:r>
              <a:rPr lang="es-ES" sz="4000" dirty="0"/>
              <a:t> de 10 </a:t>
            </a:r>
            <a:r>
              <a:rPr lang="es-ES" sz="4000" dirty="0" smtClean="0"/>
              <a:t>ms.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Seguro contra congelamiento en los motores vibradores (apagado automático después de 1000 ms).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155" y="6601576"/>
            <a:ext cx="14184840" cy="4545785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9221873" y="11251106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Curva de Señales del Sensor rotativo.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73386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282031" y="11395271"/>
            <a:ext cx="1000370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s-ES" sz="8000" dirty="0"/>
              <a:t>Diseño Mecánico y Tren Cinemático</a:t>
            </a:r>
            <a:endParaRPr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01" r="7960"/>
          <a:stretch/>
        </p:blipFill>
        <p:spPr>
          <a:xfrm>
            <a:off x="17080356" y="2554681"/>
            <a:ext cx="5750169" cy="820077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7313" y="2640505"/>
            <a:ext cx="8604715" cy="816106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249" y="4302084"/>
            <a:ext cx="6576646" cy="5614210"/>
          </a:xfrm>
          <a:prstGeom prst="rect">
            <a:avLst/>
          </a:prstGeom>
        </p:spPr>
      </p:pic>
      <p:sp>
        <p:nvSpPr>
          <p:cNvPr id="16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2998994"/>
            <a:ext cx="6576646" cy="16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Manufactura en FDM (Ácido </a:t>
            </a:r>
            <a:r>
              <a:rPr lang="es-ES" sz="4000" dirty="0" err="1"/>
              <a:t>Poliláctico</a:t>
            </a:r>
            <a:r>
              <a:rPr lang="es-ES" sz="4000" dirty="0"/>
              <a:t> </a:t>
            </a:r>
            <a:r>
              <a:rPr lang="es-ES" sz="4000" dirty="0" smtClean="0"/>
              <a:t>– PLA)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659388" y="11600326"/>
            <a:ext cx="873226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3 -  Fabricar los elementos </a:t>
            </a:r>
            <a:r>
              <a:rPr lang="es-ES" sz="2800" i="1" u="sng" dirty="0" smtClean="0"/>
              <a:t>físicos </a:t>
            </a:r>
            <a:r>
              <a:rPr lang="es-ES" sz="2800" i="1" u="sng" dirty="0"/>
              <a:t>de </a:t>
            </a:r>
            <a:r>
              <a:rPr lang="es-ES" sz="2800" i="1" u="sng" dirty="0" smtClean="0"/>
              <a:t>interacción.</a:t>
            </a:r>
            <a:endParaRPr lang="en-US" sz="2800" i="1" u="sng" dirty="0"/>
          </a:p>
        </p:txBody>
      </p:sp>
      <p:sp>
        <p:nvSpPr>
          <p:cNvPr id="15" name="Rectángulo 14"/>
          <p:cNvSpPr/>
          <p:nvPr/>
        </p:nvSpPr>
        <p:spPr>
          <a:xfrm>
            <a:off x="14511744" y="10772878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Mecanismo del Centro de Mando:</a:t>
            </a:r>
            <a:endParaRPr lang="en-US" sz="2400" i="1" dirty="0">
              <a:latin typeface="-apple-system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680531" y="9873553"/>
            <a:ext cx="6388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Caja de Engranes 1:1 del Centro de mando.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7164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3246" y="3774640"/>
            <a:ext cx="8811357" cy="7831206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4"/>
          <a:srcRect b="831"/>
          <a:stretch/>
        </p:blipFill>
        <p:spPr>
          <a:xfrm>
            <a:off x="1738108" y="4171385"/>
            <a:ext cx="7904939" cy="7434461"/>
          </a:xfrm>
          <a:prstGeom prst="rect">
            <a:avLst/>
          </a:prstGeom>
        </p:spPr>
      </p:pic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282031" y="11395271"/>
            <a:ext cx="1000370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Cinemática</a:t>
            </a:r>
            <a:r>
              <a:rPr lang="en-US" sz="8000" dirty="0"/>
              <a:t> de </a:t>
            </a:r>
            <a:r>
              <a:rPr lang="en-US" sz="8000" dirty="0" err="1"/>
              <a:t>Inserción</a:t>
            </a:r>
            <a:r>
              <a:rPr lang="en-US" sz="8000" dirty="0"/>
              <a:t> Longitudinal</a:t>
            </a:r>
            <a:endParaRPr dirty="0"/>
          </a:p>
        </p:txBody>
      </p:sp>
      <p:sp>
        <p:nvSpPr>
          <p:cNvPr id="16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2736599"/>
            <a:ext cx="21711055" cy="215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Captura de </a:t>
            </a:r>
            <a:r>
              <a:rPr lang="es-ES" sz="4000" dirty="0" smtClean="0"/>
              <a:t>desplazamiento: </a:t>
            </a:r>
            <a:r>
              <a:rPr lang="es-ES" sz="4000" dirty="0"/>
              <a:t>mecanismo </a:t>
            </a:r>
            <a:r>
              <a:rPr lang="es-ES" sz="4000" dirty="0" smtClean="0"/>
              <a:t>basado </a:t>
            </a:r>
            <a:r>
              <a:rPr lang="es-ES" sz="4000" dirty="0"/>
              <a:t>en fricción estática (rueda de goma</a:t>
            </a:r>
            <a:r>
              <a:rPr lang="es-ES" sz="40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err="1" smtClean="0"/>
              <a:t>Encoder</a:t>
            </a:r>
            <a:r>
              <a:rPr lang="es-ES" sz="4000" dirty="0" smtClean="0"/>
              <a:t> </a:t>
            </a:r>
            <a:r>
              <a:rPr lang="es-ES" sz="4000" dirty="0"/>
              <a:t>rotativo KY-040 gestionado por interrupciones (EXTI</a:t>
            </a:r>
            <a:r>
              <a:rPr lang="es-ES" sz="40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Diseño </a:t>
            </a:r>
            <a:r>
              <a:rPr lang="es-ES" sz="4000" dirty="0"/>
              <a:t>modular para </a:t>
            </a:r>
            <a:r>
              <a:rPr lang="es-ES" sz="4000" dirty="0" smtClean="0"/>
              <a:t>ajustes o mejoras, alta escalabilidad.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2968729" y="11596512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Mecanismo de Inserción.</a:t>
            </a:r>
            <a:endParaRPr lang="en-US" sz="2400" i="1" dirty="0">
              <a:latin typeface="-apple-system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12559164" y="11596511"/>
            <a:ext cx="84395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Transmisión de Movimiento del Mecanismo de Inserción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4796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2226012"/>
            <a:ext cx="13976104" cy="9761935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195799" y="11673678"/>
            <a:ext cx="1111990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2 </a:t>
            </a:r>
            <a:r>
              <a:rPr lang="es-ES" sz="2800" i="1" u="sng" dirty="0" smtClean="0"/>
              <a:t>– Interconexión entre </a:t>
            </a:r>
            <a:r>
              <a:rPr lang="es-ES" sz="2800" dirty="0"/>
              <a:t>circuito </a:t>
            </a:r>
            <a:r>
              <a:rPr lang="es-ES" sz="2800" dirty="0" smtClean="0"/>
              <a:t>físico </a:t>
            </a:r>
            <a:r>
              <a:rPr lang="es-ES" sz="2800" dirty="0"/>
              <a:t>y el entorno de </a:t>
            </a:r>
            <a:r>
              <a:rPr lang="es-ES" sz="2800" dirty="0" smtClean="0"/>
              <a:t>simulación</a:t>
            </a:r>
            <a:r>
              <a:rPr lang="es-ES" sz="2800" i="1" u="sng" dirty="0" smtClean="0"/>
              <a:t>.</a:t>
            </a:r>
            <a:endParaRPr lang="en-US" sz="2800" i="1" u="sng" dirty="0"/>
          </a:p>
        </p:txBody>
      </p:sp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71"/>
            <a:ext cx="6541500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521460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s-ES" sz="8000" dirty="0"/>
              <a:t>Sincronización y Telemetría 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578949" y="11395271"/>
            <a:ext cx="703452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5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3" y="3116686"/>
            <a:ext cx="4636392" cy="827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n-US" sz="4000" dirty="0" err="1"/>
              <a:t>Lectura</a:t>
            </a:r>
            <a:r>
              <a:rPr lang="en-US" sz="4000" dirty="0"/>
              <a:t> serial </a:t>
            </a:r>
            <a:r>
              <a:rPr lang="en-US" sz="4000" dirty="0" err="1"/>
              <a:t>asíncrona</a:t>
            </a:r>
            <a:r>
              <a:rPr lang="en-US" sz="4000" dirty="0"/>
              <a:t> </a:t>
            </a:r>
            <a:r>
              <a:rPr lang="en-US" sz="4000" dirty="0" err="1"/>
              <a:t>mediante</a:t>
            </a:r>
            <a:r>
              <a:rPr lang="en-US" sz="4000" dirty="0"/>
              <a:t> </a:t>
            </a:r>
            <a:r>
              <a:rPr lang="en-US" sz="4000" dirty="0" err="1"/>
              <a:t>hilos</a:t>
            </a:r>
            <a:r>
              <a:rPr lang="en-US" sz="4000" dirty="0"/>
              <a:t> </a:t>
            </a:r>
            <a:r>
              <a:rPr lang="en-US" sz="4000" dirty="0" err="1"/>
              <a:t>en</a:t>
            </a:r>
            <a:r>
              <a:rPr lang="en-US" sz="4000" dirty="0"/>
              <a:t> </a:t>
            </a:r>
            <a:r>
              <a:rPr lang="en-US" sz="4000" dirty="0" err="1"/>
              <a:t>segundo</a:t>
            </a:r>
            <a:r>
              <a:rPr lang="en-US" sz="4000" dirty="0"/>
              <a:t> </a:t>
            </a:r>
            <a:r>
              <a:rPr lang="en-US" sz="4000" dirty="0" err="1" smtClean="0"/>
              <a:t>plano</a:t>
            </a:r>
            <a:r>
              <a:rPr lang="en-U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/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n-US" sz="4000" dirty="0" err="1"/>
              <a:t>Uso</a:t>
            </a:r>
            <a:r>
              <a:rPr lang="en-US" sz="4000" dirty="0"/>
              <a:t> de colas </a:t>
            </a:r>
            <a:r>
              <a:rPr lang="en-US" sz="4000" dirty="0" err="1"/>
              <a:t>concurrentes</a:t>
            </a:r>
            <a:r>
              <a:rPr lang="en-US" sz="4000" dirty="0"/>
              <a:t> (</a:t>
            </a:r>
            <a:r>
              <a:rPr lang="en-US" sz="4000" i="1" dirty="0"/>
              <a:t>Thread-Safe</a:t>
            </a:r>
            <a:r>
              <a:rPr lang="en-US" sz="4000" dirty="0"/>
              <a:t>) para </a:t>
            </a:r>
            <a:r>
              <a:rPr lang="en-US" sz="4000" dirty="0" err="1"/>
              <a:t>evitar</a:t>
            </a:r>
            <a:r>
              <a:rPr lang="en-US" sz="4000" dirty="0"/>
              <a:t> </a:t>
            </a:r>
            <a:r>
              <a:rPr lang="en-US" sz="4000" dirty="0" err="1"/>
              <a:t>colisiones</a:t>
            </a:r>
            <a:r>
              <a:rPr lang="en-US" sz="4000" dirty="0"/>
              <a:t> de </a:t>
            </a:r>
            <a:r>
              <a:rPr lang="en-US" sz="4000" dirty="0" err="1" smtClean="0"/>
              <a:t>memoria</a:t>
            </a:r>
            <a:r>
              <a:rPr lang="en-US" sz="4000" dirty="0"/>
              <a:t>.</a:t>
            </a:r>
            <a:endParaRPr lang="es-ES" sz="4000" dirty="0" smtClean="0"/>
          </a:p>
        </p:txBody>
      </p:sp>
      <p:sp>
        <p:nvSpPr>
          <p:cNvPr id="16" name="Google Shape;98;p2"/>
          <p:cNvSpPr txBox="1">
            <a:spLocks noGrp="1"/>
          </p:cNvSpPr>
          <p:nvPr>
            <p:ph type="body" idx="2"/>
          </p:nvPr>
        </p:nvSpPr>
        <p:spPr>
          <a:xfrm>
            <a:off x="18359702" y="2802116"/>
            <a:ext cx="5219247" cy="827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Patrón de diseño </a:t>
            </a:r>
            <a:r>
              <a:rPr lang="es-ES" sz="4000" i="1" dirty="0" err="1"/>
              <a:t>Observer</a:t>
            </a:r>
            <a:r>
              <a:rPr lang="es-ES" sz="4000" dirty="0"/>
              <a:t> para normalización de datos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/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Protocolo </a:t>
            </a:r>
            <a:r>
              <a:rPr lang="es-ES" sz="4000" dirty="0"/>
              <a:t>de </a:t>
            </a:r>
            <a:r>
              <a:rPr lang="es-ES" sz="4000" dirty="0" err="1"/>
              <a:t>Handshake</a:t>
            </a:r>
            <a:r>
              <a:rPr lang="es-ES" sz="4000" dirty="0"/>
              <a:t> donde </a:t>
            </a:r>
            <a:r>
              <a:rPr lang="es-ES" sz="4000" dirty="0" err="1"/>
              <a:t>Unity</a:t>
            </a:r>
            <a:r>
              <a:rPr lang="es-ES" sz="4000" dirty="0"/>
              <a:t> busca la firma ID: </a:t>
            </a:r>
            <a:r>
              <a:rPr lang="es-ES" sz="4000" dirty="0" smtClean="0"/>
              <a:t>ENDOSCOPIO_V1. 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92654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Cinemática</a:t>
            </a:r>
            <a:r>
              <a:rPr lang="en-US" sz="8000" dirty="0"/>
              <a:t> Virtual (</a:t>
            </a:r>
            <a:r>
              <a:rPr lang="en-US" sz="8000" dirty="0" err="1"/>
              <a:t>Interpolación</a:t>
            </a:r>
            <a:r>
              <a:rPr lang="en-US" sz="8000" dirty="0"/>
              <a:t> </a:t>
            </a:r>
            <a:r>
              <a:rPr lang="en-US" sz="8000" dirty="0" err="1"/>
              <a:t>Slerp</a:t>
            </a:r>
            <a:r>
              <a:rPr lang="en-US" sz="8000" dirty="0"/>
              <a:t>)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621" y="4629889"/>
            <a:ext cx="9290538" cy="676144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234" y="4629890"/>
            <a:ext cx="12198974" cy="6761447"/>
          </a:xfrm>
          <a:prstGeom prst="rect">
            <a:avLst/>
          </a:prstGeom>
        </p:spPr>
      </p:pic>
      <p:sp>
        <p:nvSpPr>
          <p:cNvPr id="12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2745283"/>
            <a:ext cx="22517386" cy="18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lnSpcReduction="10000"/>
          </a:bodyPr>
          <a:lstStyle/>
          <a:p>
            <a:pPr marL="635000" indent="-635000">
              <a:spcBef>
                <a:spcPts val="0"/>
              </a:spcBef>
              <a:buSzPts val="5040"/>
            </a:pPr>
            <a:r>
              <a:rPr lang="es-ES" sz="4000" dirty="0"/>
              <a:t>Algoritmo de propagación de curvas mediante </a:t>
            </a:r>
            <a:r>
              <a:rPr lang="en-US" sz="4000" dirty="0" err="1"/>
              <a:t>interpolación</a:t>
            </a:r>
            <a:r>
              <a:rPr lang="en-US" sz="4000" dirty="0"/>
              <a:t> lineal </a:t>
            </a:r>
            <a:r>
              <a:rPr lang="en-US" sz="4000" dirty="0" err="1" smtClean="0"/>
              <a:t>esférica</a:t>
            </a:r>
            <a:r>
              <a:rPr lang="en-US" sz="4000" dirty="0" smtClean="0"/>
              <a:t> </a:t>
            </a:r>
            <a:r>
              <a:rPr lang="es-ES" sz="4000" dirty="0" smtClean="0"/>
              <a:t>(</a:t>
            </a:r>
            <a:r>
              <a:rPr lang="es-ES" sz="4000" dirty="0" err="1" smtClean="0"/>
              <a:t>Quaternion.Slerp</a:t>
            </a:r>
            <a:r>
              <a:rPr lang="es-ES" sz="40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Monitoreo </a:t>
            </a:r>
            <a:r>
              <a:rPr lang="es-ES" sz="4000" dirty="0"/>
              <a:t>constante de estrés tisular (detección de bucles &gt; 140</a:t>
            </a:r>
            <a:r>
              <a:rPr lang="es-ES" sz="4000" dirty="0" smtClean="0"/>
              <a:t>°).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Escudo </a:t>
            </a:r>
            <a:r>
              <a:rPr lang="es-ES" sz="4000" dirty="0"/>
              <a:t>"Anti-Lag" para evitar movimientos bruscos causados por hardware.</a:t>
            </a:r>
            <a:endParaRPr lang="es-ES" sz="4000" dirty="0" smtClean="0"/>
          </a:p>
        </p:txBody>
      </p:sp>
      <p:sp>
        <p:nvSpPr>
          <p:cNvPr id="13" name="Rectángulo 12"/>
          <p:cNvSpPr/>
          <p:nvPr/>
        </p:nvSpPr>
        <p:spPr>
          <a:xfrm>
            <a:off x="3100042" y="11473645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Punta de la Fibra simulada.</a:t>
            </a:r>
            <a:endParaRPr lang="en-US" sz="2400" i="1" dirty="0">
              <a:latin typeface="-apple-system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14665569" y="11473645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Enfoque de la Cámara de la fibra.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789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/>
          <p:cNvSpPr/>
          <p:nvPr/>
        </p:nvSpPr>
        <p:spPr>
          <a:xfrm>
            <a:off x="138438" y="11651243"/>
            <a:ext cx="1598665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4 - Entorno virtual paramétrico capaz de </a:t>
            </a:r>
            <a:r>
              <a:rPr lang="es-ES" sz="2800" i="1" u="sng" dirty="0" err="1"/>
              <a:t>renderizar</a:t>
            </a:r>
            <a:r>
              <a:rPr lang="es-ES" sz="2800" i="1" u="sng" dirty="0"/>
              <a:t> y evaluar lesiones de 2 mm a 9 </a:t>
            </a:r>
            <a:r>
              <a:rPr lang="es-ES" sz="2800" i="1" u="sng" dirty="0" err="1"/>
              <a:t>mm.</a:t>
            </a:r>
            <a:endParaRPr lang="en-US" sz="2800" i="1" u="sng" dirty="0"/>
          </a:p>
        </p:txBody>
      </p:sp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554367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s-ES" sz="8000" dirty="0"/>
              <a:t>Generación Procedural y Clasificación de </a:t>
            </a:r>
            <a:r>
              <a:rPr lang="es-ES" sz="8000" dirty="0" err="1"/>
              <a:t>Yamada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840" y="7191125"/>
            <a:ext cx="9339452" cy="3387087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718947" y="2570368"/>
            <a:ext cx="10746221" cy="462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600"/>
              </a:spcBef>
              <a:buSzPts val="5040"/>
            </a:pPr>
            <a:r>
              <a:rPr lang="es-ES" sz="3600" dirty="0" smtClean="0"/>
              <a:t>Instanciación </a:t>
            </a:r>
            <a:r>
              <a:rPr lang="es-ES" sz="3600" dirty="0"/>
              <a:t>aleatoria utilizando física de rayos (</a:t>
            </a:r>
            <a:r>
              <a:rPr lang="es-ES" sz="3600" dirty="0" err="1"/>
              <a:t>Raycast</a:t>
            </a:r>
            <a:r>
              <a:rPr lang="es-ES" sz="3600" dirty="0" smtClean="0"/>
              <a:t>).</a:t>
            </a:r>
          </a:p>
          <a:p>
            <a:pPr marL="635000" lvl="0" indent="-635000">
              <a:spcBef>
                <a:spcPts val="600"/>
              </a:spcBef>
              <a:buSzPts val="5040"/>
            </a:pPr>
            <a:r>
              <a:rPr lang="es-ES" sz="3600" dirty="0" smtClean="0"/>
              <a:t>Alineación </a:t>
            </a:r>
            <a:r>
              <a:rPr lang="es-ES" sz="3600" dirty="0"/>
              <a:t>geométrica basada en las normales de la pared intestinal</a:t>
            </a:r>
            <a:r>
              <a:rPr lang="es-ES" sz="3600" dirty="0" smtClean="0"/>
              <a:t>.</a:t>
            </a:r>
            <a:endParaRPr lang="es-ES" sz="3600" dirty="0" smtClean="0"/>
          </a:p>
          <a:p>
            <a:pPr marL="635000" lvl="0" indent="-635000">
              <a:spcBef>
                <a:spcPts val="600"/>
              </a:spcBef>
              <a:buSzPts val="5040"/>
            </a:pPr>
            <a:r>
              <a:rPr lang="es-ES" sz="3600" dirty="0" smtClean="0"/>
              <a:t>Variación </a:t>
            </a:r>
            <a:r>
              <a:rPr lang="es-ES" sz="3600" dirty="0"/>
              <a:t>paramétrica visual (lesiones de 2 mm a 9 mm).</a:t>
            </a:r>
            <a:endParaRPr lang="es-ES" sz="3600" dirty="0" smtClean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9453" y="3192699"/>
            <a:ext cx="10736199" cy="6500015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3475718" y="10464245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Clasificación Japonesa </a:t>
            </a:r>
            <a:r>
              <a:rPr lang="es-BO" sz="2400" i="1" dirty="0" err="1" smtClean="0">
                <a:latin typeface="-apple-system"/>
              </a:rPr>
              <a:t>Yamada</a:t>
            </a:r>
            <a:r>
              <a:rPr lang="es-BO" sz="2400" i="1" dirty="0" smtClean="0">
                <a:latin typeface="-apple-system"/>
              </a:rPr>
              <a:t>.</a:t>
            </a:r>
            <a:endParaRPr lang="en-US" sz="2400" i="1" dirty="0">
              <a:latin typeface="-apple-system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14520771" y="9738913"/>
            <a:ext cx="6073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Pólipo del simulador y Guía conceptual.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27977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718947" y="11662415"/>
            <a:ext cx="1639088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6 - Módulo de evaluación algorítmica y retroalimentación reactiva integrado.</a:t>
            </a:r>
            <a:endParaRPr lang="en-US" sz="2800" i="1" u="sng" dirty="0"/>
          </a:p>
        </p:txBody>
      </p:sp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Máquina</a:t>
            </a:r>
            <a:r>
              <a:rPr lang="en-US" sz="8000" dirty="0"/>
              <a:t> de </a:t>
            </a:r>
            <a:r>
              <a:rPr lang="en-US" sz="8000" dirty="0" err="1"/>
              <a:t>Estados</a:t>
            </a:r>
            <a:r>
              <a:rPr lang="en-US" sz="8000" dirty="0"/>
              <a:t> </a:t>
            </a:r>
            <a:r>
              <a:rPr lang="en-US" sz="8000" dirty="0" err="1"/>
              <a:t>Finita</a:t>
            </a:r>
            <a:r>
              <a:rPr lang="en-US" sz="8000" dirty="0"/>
              <a:t> </a:t>
            </a:r>
            <a:r>
              <a:rPr lang="en-US" sz="8000" dirty="0" err="1"/>
              <a:t>Quirúrgica</a:t>
            </a:r>
            <a:r>
              <a:rPr lang="en-US" sz="8000" dirty="0"/>
              <a:t> (FSM)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718947" y="2972366"/>
            <a:ext cx="22860001" cy="217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Restricción de herramientas según tamaño de lesión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Uso </a:t>
            </a:r>
            <a:r>
              <a:rPr lang="es-ES" sz="4000" dirty="0"/>
              <a:t>obligatorio de Pinza Fría para patologías ≤ 5 </a:t>
            </a:r>
            <a:r>
              <a:rPr lang="es-ES" sz="4000" dirty="0" err="1"/>
              <a:t>mm</a:t>
            </a:r>
            <a:r>
              <a:rPr lang="es-ES" sz="4000" dirty="0" err="1" smtClean="0"/>
              <a:t>.</a:t>
            </a: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Activación </a:t>
            </a:r>
            <a:r>
              <a:rPr lang="es-ES" sz="4000" dirty="0"/>
              <a:t>de Asa Diatérmica (electrocauterio) para lesiones mayores.</a:t>
            </a:r>
            <a:endParaRPr lang="es-ES" sz="4000" dirty="0" smtClean="0"/>
          </a:p>
        </p:txBody>
      </p:sp>
      <p:sp>
        <p:nvSpPr>
          <p:cNvPr id="8" name="Rectángulo 7"/>
          <p:cNvSpPr/>
          <p:nvPr/>
        </p:nvSpPr>
        <p:spPr>
          <a:xfrm>
            <a:off x="3604846" y="7051431"/>
            <a:ext cx="3534508" cy="1969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bg2"/>
                </a:solidFill>
              </a:rPr>
              <a:t>Intacto 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9702228" y="7051431"/>
            <a:ext cx="3534508" cy="1969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bg2"/>
                </a:solidFill>
              </a:rPr>
              <a:t>Cortado</a:t>
            </a:r>
            <a:r>
              <a:rPr lang="en-US" sz="3600" dirty="0">
                <a:solidFill>
                  <a:schemeClr val="bg2"/>
                </a:solidFill>
              </a:rPr>
              <a:t>/</a:t>
            </a:r>
            <a:r>
              <a:rPr lang="en-US" sz="3600" dirty="0" err="1">
                <a:solidFill>
                  <a:schemeClr val="bg2"/>
                </a:solidFill>
              </a:rPr>
              <a:t>Suelto</a:t>
            </a:r>
            <a:r>
              <a:rPr lang="en-US" sz="36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5799610" y="7051430"/>
            <a:ext cx="3534508" cy="1969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bg2"/>
                </a:solidFill>
              </a:rPr>
              <a:t>Capturado</a:t>
            </a:r>
            <a:r>
              <a:rPr lang="en-US" sz="3600" dirty="0">
                <a:solidFill>
                  <a:schemeClr val="bg2"/>
                </a:solidFill>
              </a:rPr>
              <a:t> </a:t>
            </a:r>
          </a:p>
        </p:txBody>
      </p:sp>
      <p:cxnSp>
        <p:nvCxnSpPr>
          <p:cNvPr id="10" name="Conector recto de flecha 9"/>
          <p:cNvCxnSpPr>
            <a:stCxn id="8" idx="3"/>
            <a:endCxn id="16" idx="1"/>
          </p:cNvCxnSpPr>
          <p:nvPr/>
        </p:nvCxnSpPr>
        <p:spPr>
          <a:xfrm>
            <a:off x="7139354" y="8036170"/>
            <a:ext cx="25628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>
            <a:stCxn id="16" idx="3"/>
            <a:endCxn id="17" idx="1"/>
          </p:cNvCxnSpPr>
          <p:nvPr/>
        </p:nvCxnSpPr>
        <p:spPr>
          <a:xfrm flipV="1">
            <a:off x="13236736" y="8036169"/>
            <a:ext cx="25628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3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/>
          <p:cNvSpPr/>
          <p:nvPr/>
        </p:nvSpPr>
        <p:spPr>
          <a:xfrm>
            <a:off x="718948" y="11662415"/>
            <a:ext cx="1306739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6 - Módulo de evaluación algorítmica y retroalimentación reactiva integrado.</a:t>
            </a:r>
            <a:endParaRPr lang="en-US" sz="2800" i="1" u="sng" dirty="0"/>
          </a:p>
        </p:txBody>
      </p:sp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s-ES" sz="8000" dirty="0"/>
              <a:t>Motor de Fluidos y Evaluación Ponderada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718947" y="2502244"/>
            <a:ext cx="22860001" cy="217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Simulación de obstrucción visual (lente sucio por roce contra tejidos</a:t>
            </a:r>
            <a:r>
              <a:rPr lang="es-ES" sz="40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Hemorragias </a:t>
            </a:r>
            <a:r>
              <a:rPr lang="es-ES" sz="4000" dirty="0"/>
              <a:t>dinámicas aleatorias con requerimiento de succión en &lt; 5 segundos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Exportación </a:t>
            </a:r>
            <a:r>
              <a:rPr lang="es-ES" sz="4000" dirty="0"/>
              <a:t>de reportes tabulares (CSV) y JSON.</a:t>
            </a:r>
            <a:endParaRPr lang="es-ES" sz="4000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46" y="4573276"/>
            <a:ext cx="10998640" cy="607637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3096" y="4573276"/>
            <a:ext cx="10865381" cy="6076374"/>
          </a:xfrm>
          <a:prstGeom prst="rect">
            <a:avLst/>
          </a:prstGeom>
        </p:spPr>
      </p:pic>
      <p:sp>
        <p:nvSpPr>
          <p:cNvPr id="14" name="Rectángulo 13"/>
          <p:cNvSpPr/>
          <p:nvPr/>
        </p:nvSpPr>
        <p:spPr>
          <a:xfrm>
            <a:off x="3496418" y="10649650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Cámara con Mucosa </a:t>
            </a:r>
            <a:r>
              <a:rPr lang="es-BO" sz="2400" i="1" dirty="0">
                <a:latin typeface="-apple-system"/>
              </a:rPr>
              <a:t>I</a:t>
            </a:r>
            <a:r>
              <a:rPr lang="es-BO" sz="2400" i="1" dirty="0" smtClean="0">
                <a:latin typeface="-apple-system"/>
              </a:rPr>
              <a:t>ntestinal.</a:t>
            </a:r>
            <a:endParaRPr lang="en-US" sz="2400" i="1" dirty="0">
              <a:latin typeface="-apple-system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15093938" y="10688505"/>
            <a:ext cx="5443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Cámara con Sangre en el Lente.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5928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s-ES" sz="8000" dirty="0"/>
              <a:t>Fiabilidad de </a:t>
            </a:r>
            <a:r>
              <a:rPr lang="es-ES" sz="8000" dirty="0" err="1"/>
              <a:t>Sensado</a:t>
            </a:r>
            <a:r>
              <a:rPr lang="es-ES" sz="8000" dirty="0"/>
              <a:t> y Desviación Angular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718947" y="2717923"/>
            <a:ext cx="22860001" cy="217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Margen de error de entradas discretas inferior al 5% requerido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Resolución </a:t>
            </a:r>
            <a:r>
              <a:rPr lang="es-ES" sz="4000" dirty="0"/>
              <a:t>experimental de volantes magnéticos de ~</a:t>
            </a:r>
            <a:r>
              <a:rPr lang="es-ES" sz="4000" dirty="0" smtClean="0"/>
              <a:t>45 </a:t>
            </a:r>
            <a:r>
              <a:rPr lang="es-ES" sz="4000" dirty="0"/>
              <a:t>pulsos por vuelta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Desviación </a:t>
            </a:r>
            <a:r>
              <a:rPr lang="es-ES" sz="4000" dirty="0"/>
              <a:t>angular promedio máxima de 0.18° (tolerancia exigida &lt; 10°).</a:t>
            </a:r>
            <a:endParaRPr lang="es-ES" sz="4000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47" y="5128551"/>
            <a:ext cx="11430001" cy="571118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3661" y="5124140"/>
            <a:ext cx="9664308" cy="5773751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1347920" y="10839732"/>
            <a:ext cx="10681655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1. Diseño de circuito electrónico con error de lectura comprobado menor al 5%.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12843999" y="10881817"/>
            <a:ext cx="9523631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3 - Interfaz física fabricada con desviación angular máxima probada de 0.18°.</a:t>
            </a:r>
            <a:endParaRPr lang="en-US" sz="2800" i="1" u="sng" dirty="0"/>
          </a:p>
        </p:txBody>
      </p:sp>
    </p:spTree>
    <p:extLst>
      <p:ext uri="{BB962C8B-B14F-4D97-AF65-F5344CB8AC3E}">
        <p14:creationId xmlns:p14="http://schemas.microsoft.com/office/powerpoint/2010/main" val="100691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/>
          <p:cNvSpPr/>
          <p:nvPr/>
        </p:nvSpPr>
        <p:spPr>
          <a:xfrm>
            <a:off x="-20320" y="11221187"/>
            <a:ext cx="15939084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2 - comunicación en tiempo real con una latencia inferior a 100 milisegundos y una tasa de refresco mínima de 60 </a:t>
            </a:r>
            <a:r>
              <a:rPr lang="es-ES" sz="2800" i="1" u="sng" dirty="0" err="1"/>
              <a:t>fps</a:t>
            </a:r>
            <a:endParaRPr lang="en-US" sz="2800" i="1" u="sng" dirty="0"/>
          </a:p>
        </p:txBody>
      </p:sp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s-ES" sz="8000" dirty="0"/>
              <a:t>Tiempos de Latencia y </a:t>
            </a:r>
            <a:r>
              <a:rPr lang="es-ES" sz="8000" dirty="0" err="1"/>
              <a:t>Renderizado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718948" y="2539573"/>
            <a:ext cx="15889940" cy="90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3600" dirty="0"/>
              <a:t>Evaluación de latencia mediante método RTT (Ping-Pong serial</a:t>
            </a:r>
            <a:r>
              <a:rPr lang="es-ES" sz="36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3600" dirty="0" smtClean="0"/>
              <a:t>Latencia </a:t>
            </a:r>
            <a:r>
              <a:rPr lang="es-ES" sz="3600" dirty="0"/>
              <a:t>promedio de todo el sistema: 16.04 milisegundos</a:t>
            </a:r>
            <a:r>
              <a:rPr lang="es-ES" sz="36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3600" dirty="0" smtClean="0"/>
              <a:t>Tasa </a:t>
            </a:r>
            <a:r>
              <a:rPr lang="es-ES" sz="3600" dirty="0"/>
              <a:t>de refresco estacionaria garantizada de 60 FPS sin saturación del bus.</a:t>
            </a:r>
            <a:endParaRPr lang="es-ES" sz="3600" dirty="0" smtClean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887" y="4887625"/>
            <a:ext cx="8497462" cy="5018969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15330939" y="4251193"/>
            <a:ext cx="8124377" cy="6872881"/>
            <a:chOff x="14190963" y="4264902"/>
            <a:chExt cx="8124377" cy="6872881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62" r="90568" b="65235"/>
            <a:stretch/>
          </p:blipFill>
          <p:spPr>
            <a:xfrm>
              <a:off x="14190963" y="4264902"/>
              <a:ext cx="4038884" cy="4584599"/>
            </a:xfrm>
            <a:prstGeom prst="rect">
              <a:avLst/>
            </a:prstGeom>
          </p:spPr>
        </p:pic>
        <p:pic>
          <p:nvPicPr>
            <p:cNvPr id="14" name="Imagen 13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53" t="48957" r="80394"/>
            <a:stretch/>
          </p:blipFill>
          <p:spPr>
            <a:xfrm>
              <a:off x="18229847" y="4269444"/>
              <a:ext cx="4085493" cy="6868339"/>
            </a:xfrm>
            <a:prstGeom prst="rect">
              <a:avLst/>
            </a:prstGeom>
          </p:spPr>
        </p:pic>
      </p:grpSp>
      <p:sp>
        <p:nvSpPr>
          <p:cNvPr id="17" name="Rectángulo 16"/>
          <p:cNvSpPr/>
          <p:nvPr/>
        </p:nvSpPr>
        <p:spPr>
          <a:xfrm>
            <a:off x="4369837" y="9836907"/>
            <a:ext cx="6073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Tabla control de FPS por Acción.</a:t>
            </a:r>
            <a:endParaRPr lang="en-US" sz="2400" i="1" dirty="0">
              <a:latin typeface="-apple-system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16125153" y="11160504"/>
            <a:ext cx="6073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Tabla control de FPS Simulación por </a:t>
            </a:r>
            <a:r>
              <a:rPr lang="es-BO" sz="2400" i="1" dirty="0" err="1" smtClean="0">
                <a:latin typeface="-apple-system"/>
              </a:rPr>
              <a:t>Unity</a:t>
            </a:r>
            <a:r>
              <a:rPr lang="es-BO" sz="2400" i="1" dirty="0" smtClean="0">
                <a:latin typeface="-apple-system"/>
              </a:rPr>
              <a:t>.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1968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/>
          <p:cNvSpPr/>
          <p:nvPr/>
        </p:nvSpPr>
        <p:spPr>
          <a:xfrm>
            <a:off x="718948" y="11662415"/>
            <a:ext cx="1463712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5 - Correspondencia cinemática lograda con error máximo compensado menor al 10%</a:t>
            </a:r>
            <a:endParaRPr lang="en-US" sz="2800" i="1" u="sng" dirty="0"/>
          </a:p>
        </p:txBody>
      </p:sp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Validación</a:t>
            </a:r>
            <a:r>
              <a:rPr lang="en-US" sz="8000" dirty="0"/>
              <a:t> </a:t>
            </a:r>
            <a:r>
              <a:rPr lang="en-US" sz="8000" dirty="0" err="1"/>
              <a:t>Cinemática</a:t>
            </a:r>
            <a:r>
              <a:rPr lang="en-US" sz="8000" dirty="0"/>
              <a:t> de </a:t>
            </a:r>
            <a:r>
              <a:rPr lang="en-US" sz="8000" dirty="0" err="1"/>
              <a:t>Inserción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2731896"/>
            <a:ext cx="15898515" cy="224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2500" lnSpcReduction="10000"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Pruebas en escenario de vacío para aislar comportamiento del </a:t>
            </a:r>
            <a:r>
              <a:rPr lang="es-ES" sz="4000" dirty="0" err="1"/>
              <a:t>encoder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Error </a:t>
            </a:r>
            <a:r>
              <a:rPr lang="es-ES" sz="4000" dirty="0"/>
              <a:t>promedio en avance: 3.58% (Tracción óptima</a:t>
            </a:r>
            <a:r>
              <a:rPr lang="es-ES" sz="40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Error </a:t>
            </a:r>
            <a:r>
              <a:rPr lang="es-ES" sz="4000" dirty="0"/>
              <a:t>promedio en retroceso: 6.91% (Histéresis por patinaje mecánico</a:t>
            </a:r>
            <a:r>
              <a:rPr lang="es-ES" sz="40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Sistema </a:t>
            </a:r>
            <a:r>
              <a:rPr lang="es-ES" sz="4000" dirty="0"/>
              <a:t>compensado paramétricamente por debajo del límite del 10%.</a:t>
            </a:r>
            <a:endParaRPr lang="es-ES" sz="4000" dirty="0" smtClean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18"/>
          <a:stretch/>
        </p:blipFill>
        <p:spPr>
          <a:xfrm>
            <a:off x="17302036" y="1500486"/>
            <a:ext cx="5944826" cy="471571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538" y="5737376"/>
            <a:ext cx="10769092" cy="532806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9575" y="6253211"/>
            <a:ext cx="10925796" cy="542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9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Evaluación</a:t>
            </a:r>
            <a:r>
              <a:rPr lang="en-US" sz="8000" dirty="0"/>
              <a:t> </a:t>
            </a:r>
            <a:r>
              <a:rPr lang="en-US" sz="8000" dirty="0" err="1"/>
              <a:t>por</a:t>
            </a:r>
            <a:r>
              <a:rPr lang="en-US" sz="8000" dirty="0"/>
              <a:t> </a:t>
            </a:r>
            <a:r>
              <a:rPr lang="en-US" sz="8000" dirty="0" err="1"/>
              <a:t>Médicos</a:t>
            </a:r>
            <a:r>
              <a:rPr lang="en-US" sz="8000" dirty="0"/>
              <a:t> </a:t>
            </a:r>
            <a:r>
              <a:rPr lang="en-US" sz="8000" dirty="0" err="1"/>
              <a:t>Especialistas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2731897"/>
            <a:ext cx="19548147" cy="184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lnSpcReduction="10000"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Panel de 4 médicos especialistas en endoscopia gastroenterológica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Efectividad </a:t>
            </a:r>
            <a:r>
              <a:rPr lang="es-ES" sz="4000" dirty="0"/>
              <a:t>de penalización algorítmica calificada en 6.75/10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Recomendación </a:t>
            </a:r>
            <a:r>
              <a:rPr lang="es-ES" sz="4000" dirty="0"/>
              <a:t>global para laboratorios introductorios de 8.25/10.</a:t>
            </a:r>
            <a:endParaRPr lang="es-ES" sz="4000" dirty="0" smtClean="0"/>
          </a:p>
        </p:txBody>
      </p:sp>
      <p:sp>
        <p:nvSpPr>
          <p:cNvPr id="18" name="Rectángulo 17"/>
          <p:cNvSpPr/>
          <p:nvPr/>
        </p:nvSpPr>
        <p:spPr>
          <a:xfrm>
            <a:off x="12467035" y="10645869"/>
            <a:ext cx="10464867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400" i="1" u="sng" dirty="0" err="1" smtClean="0"/>
              <a:t>Obj</a:t>
            </a:r>
            <a:r>
              <a:rPr lang="es-ES" sz="2400" i="1" u="sng" dirty="0" smtClean="0"/>
              <a:t>. 8 - Validación clínica funcional y usabilidad evaluada por especialistas en endoscopia.</a:t>
            </a:r>
            <a:endParaRPr lang="en-US" sz="2400" i="1" u="sng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5" t="35135" b="4234"/>
          <a:stretch/>
        </p:blipFill>
        <p:spPr>
          <a:xfrm>
            <a:off x="603822" y="7014533"/>
            <a:ext cx="11093569" cy="352619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5" t="33486" b="8174"/>
          <a:stretch/>
        </p:blipFill>
        <p:spPr>
          <a:xfrm>
            <a:off x="12318415" y="7208954"/>
            <a:ext cx="10592641" cy="3317142"/>
          </a:xfrm>
          <a:prstGeom prst="rect">
            <a:avLst/>
          </a:prstGeom>
        </p:spPr>
      </p:pic>
      <p:sp>
        <p:nvSpPr>
          <p:cNvPr id="22" name="Rectángulo 21"/>
          <p:cNvSpPr/>
          <p:nvPr/>
        </p:nvSpPr>
        <p:spPr>
          <a:xfrm>
            <a:off x="1595180" y="10645869"/>
            <a:ext cx="911085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400" i="1" u="sng" dirty="0" err="1"/>
              <a:t>Obj</a:t>
            </a:r>
            <a:r>
              <a:rPr lang="es-ES" sz="2400" i="1" u="sng" dirty="0"/>
              <a:t>. </a:t>
            </a:r>
            <a:r>
              <a:rPr lang="es-ES" sz="2400" i="1" u="sng" dirty="0" smtClean="0"/>
              <a:t>6 - Módulo </a:t>
            </a:r>
            <a:r>
              <a:rPr lang="es-ES" sz="2400" i="1" u="sng" dirty="0"/>
              <a:t>de retroalimentación interactiva y evaluación básica integrado</a:t>
            </a:r>
            <a:r>
              <a:rPr lang="es-ES" sz="2400" i="1" u="sng" dirty="0" smtClean="0"/>
              <a:t>.</a:t>
            </a:r>
            <a:endParaRPr lang="en-US" sz="2400" i="1" u="sng" dirty="0"/>
          </a:p>
        </p:txBody>
      </p:sp>
      <p:sp>
        <p:nvSpPr>
          <p:cNvPr id="19" name="Rectángulo 18"/>
          <p:cNvSpPr/>
          <p:nvPr/>
        </p:nvSpPr>
        <p:spPr>
          <a:xfrm>
            <a:off x="718948" y="5379967"/>
            <a:ext cx="107621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BO" sz="2800" dirty="0" smtClean="0"/>
              <a:t>¿En qué medida está de acuerdo con que la penalización progresiva (</a:t>
            </a:r>
            <a:r>
              <a:rPr lang="es-BO" sz="2800" dirty="0" smtClean="0">
                <a:latin typeface="Avenir"/>
              </a:rPr>
              <a:t>advertencias</a:t>
            </a:r>
            <a:r>
              <a:rPr lang="es-BO" sz="2800" dirty="0" smtClean="0"/>
              <a:t> visuales antes de fallar) acelera la comprensión del estudiante sobre sus propios errores operativos?</a:t>
            </a:r>
            <a:endParaRPr lang="en-US" sz="2800" dirty="0"/>
          </a:p>
        </p:txBody>
      </p:sp>
      <p:sp>
        <p:nvSpPr>
          <p:cNvPr id="20" name="Rectángulo 19"/>
          <p:cNvSpPr/>
          <p:nvPr/>
        </p:nvSpPr>
        <p:spPr>
          <a:xfrm>
            <a:off x="12318415" y="5379966"/>
            <a:ext cx="107621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BO" sz="2800" dirty="0" smtClean="0"/>
              <a:t>En términos generales, ¿recomendaría la integración de este simulador híbrido como un módulo introductorio en los laboratorios de habilidades clínicas universitarias?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174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Análisis</a:t>
            </a:r>
            <a:r>
              <a:rPr lang="en-US" sz="8000" dirty="0"/>
              <a:t> de </a:t>
            </a:r>
            <a:r>
              <a:rPr lang="en-US" sz="8000" dirty="0" err="1" smtClean="0"/>
              <a:t>Costos</a:t>
            </a:r>
            <a:r>
              <a:rPr lang="en-US" sz="8000" dirty="0" smtClean="0"/>
              <a:t> (1$=9.96 </a:t>
            </a:r>
            <a:r>
              <a:rPr lang="en-US" sz="8000" dirty="0" err="1"/>
              <a:t>B</a:t>
            </a:r>
            <a:r>
              <a:rPr lang="en-US" sz="8000" dirty="0" err="1" smtClean="0"/>
              <a:t>s</a:t>
            </a:r>
            <a:r>
              <a:rPr lang="en-US" sz="8000" dirty="0" smtClean="0"/>
              <a:t>.)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2731896"/>
            <a:ext cx="21605547" cy="224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Costo de desarrollo e ingeniería </a:t>
            </a:r>
            <a:r>
              <a:rPr lang="es-ES" sz="4000" dirty="0" smtClean="0"/>
              <a:t>(</a:t>
            </a:r>
            <a:r>
              <a:rPr lang="es-ES" sz="4000" dirty="0" err="1" smtClean="0"/>
              <a:t>Ingeniería+Desarrollo</a:t>
            </a:r>
            <a:r>
              <a:rPr lang="es-ES" sz="4000" dirty="0" smtClean="0"/>
              <a:t>): </a:t>
            </a:r>
            <a:r>
              <a:rPr lang="es-ES" sz="4000" dirty="0"/>
              <a:t>~27,680 Bs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Costo </a:t>
            </a:r>
            <a:r>
              <a:rPr lang="es-ES" sz="4000" dirty="0"/>
              <a:t>unitario de materiales para </a:t>
            </a:r>
            <a:r>
              <a:rPr lang="es-ES" sz="4000" dirty="0" err="1"/>
              <a:t>replicabilidad</a:t>
            </a:r>
            <a:r>
              <a:rPr lang="es-ES" sz="4000" dirty="0"/>
              <a:t>: 2,757 Bs (~279 USD</a:t>
            </a:r>
            <a:r>
              <a:rPr lang="es-ES" sz="4000" dirty="0" smtClean="0"/>
              <a:t>).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Alternativa </a:t>
            </a:r>
            <a:r>
              <a:rPr lang="es-ES" sz="4000" dirty="0"/>
              <a:t>real y accesible frente a tecnologías cerradas de importación.</a:t>
            </a:r>
            <a:endParaRPr lang="es-ES" sz="4000" dirty="0" smtClean="0"/>
          </a:p>
        </p:txBody>
      </p:sp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25606"/>
              </p:ext>
            </p:extLst>
          </p:nvPr>
        </p:nvGraphicFramePr>
        <p:xfrm>
          <a:off x="4953041" y="5003869"/>
          <a:ext cx="12907108" cy="5905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1089">
                  <a:extLst>
                    <a:ext uri="{9D8B030D-6E8A-4147-A177-3AD203B41FA5}">
                      <a16:colId xmlns:a16="http://schemas.microsoft.com/office/drawing/2014/main" val="524037060"/>
                    </a:ext>
                  </a:extLst>
                </a:gridCol>
                <a:gridCol w="4876019">
                  <a:extLst>
                    <a:ext uri="{9D8B030D-6E8A-4147-A177-3AD203B41FA5}">
                      <a16:colId xmlns:a16="http://schemas.microsoft.com/office/drawing/2014/main" val="4011297944"/>
                    </a:ext>
                  </a:extLst>
                </a:gridCol>
              </a:tblGrid>
              <a:tr h="8672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b="1" u="none" strike="noStrike" dirty="0" err="1">
                          <a:effectLst/>
                        </a:rPr>
                        <a:t>Categoría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200" b="1" u="none" strike="noStrike" dirty="0">
                          <a:effectLst/>
                        </a:rPr>
                        <a:t>Total (</a:t>
                      </a:r>
                      <a:r>
                        <a:rPr lang="en-US" sz="3200" b="1" u="none" strike="noStrike" dirty="0" err="1">
                          <a:effectLst/>
                        </a:rPr>
                        <a:t>Bs</a:t>
                      </a:r>
                      <a:r>
                        <a:rPr lang="en-US" sz="3200" b="1" u="none" strike="noStrike" dirty="0">
                          <a:effectLst/>
                        </a:rPr>
                        <a:t>.)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6255147"/>
                  </a:ext>
                </a:extLst>
              </a:tr>
              <a:tr h="8259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3200" b="1" u="none" strike="noStrike" dirty="0" err="1">
                          <a:effectLst/>
                        </a:rPr>
                        <a:t>Materiales</a:t>
                      </a:r>
                      <a:r>
                        <a:rPr lang="en-US" sz="3200" b="1" u="none" strike="noStrike" dirty="0">
                          <a:effectLst/>
                        </a:rPr>
                        <a:t> </a:t>
                      </a:r>
                      <a:r>
                        <a:rPr lang="en-US" sz="3200" b="1" u="none" strike="noStrike" dirty="0" err="1">
                          <a:effectLst/>
                        </a:rPr>
                        <a:t>electrónicos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200" u="none" strike="noStrike" dirty="0">
                          <a:effectLst/>
                        </a:rPr>
                        <a:t>369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8181242"/>
                  </a:ext>
                </a:extLst>
              </a:tr>
              <a:tr h="8259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3200" b="1" u="none" strike="noStrike" dirty="0" err="1">
                          <a:effectLst/>
                        </a:rPr>
                        <a:t>Módulo</a:t>
                      </a:r>
                      <a:r>
                        <a:rPr lang="en-US" sz="3200" b="1" u="none" strike="noStrike" dirty="0">
                          <a:effectLst/>
                        </a:rPr>
                        <a:t> sensorial y </a:t>
                      </a:r>
                      <a:r>
                        <a:rPr lang="en-US" sz="3200" b="1" u="none" strike="noStrike" dirty="0" err="1">
                          <a:effectLst/>
                        </a:rPr>
                        <a:t>háptico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200" u="none" strike="noStrike" dirty="0">
                          <a:effectLst/>
                        </a:rPr>
                        <a:t>80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25283"/>
                  </a:ext>
                </a:extLst>
              </a:tr>
              <a:tr h="8259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3200" b="1" u="none" strike="noStrike" dirty="0" err="1">
                          <a:effectLst/>
                        </a:rPr>
                        <a:t>Materiales</a:t>
                      </a:r>
                      <a:r>
                        <a:rPr lang="en-US" sz="3200" b="1" u="none" strike="noStrike" dirty="0">
                          <a:effectLst/>
                        </a:rPr>
                        <a:t> </a:t>
                      </a:r>
                      <a:r>
                        <a:rPr lang="en-US" sz="3200" b="1" u="none" strike="noStrike" dirty="0" err="1">
                          <a:effectLst/>
                        </a:rPr>
                        <a:t>mecánicos</a:t>
                      </a:r>
                      <a:r>
                        <a:rPr lang="en-US" sz="3200" b="1" u="none" strike="noStrike" dirty="0">
                          <a:effectLst/>
                        </a:rPr>
                        <a:t> y </a:t>
                      </a:r>
                      <a:r>
                        <a:rPr lang="en-US" sz="3200" b="1" u="none" strike="noStrike" dirty="0" err="1">
                          <a:effectLst/>
                        </a:rPr>
                        <a:t>fabricación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200" u="none" strike="noStrike" dirty="0">
                          <a:effectLst/>
                        </a:rPr>
                        <a:t>2158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2159592"/>
                  </a:ext>
                </a:extLst>
              </a:tr>
              <a:tr h="8259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3200" b="1" u="none" strike="noStrike" dirty="0" err="1">
                          <a:effectLst/>
                        </a:rPr>
                        <a:t>Fabricación</a:t>
                      </a:r>
                      <a:r>
                        <a:rPr lang="en-US" sz="3200" b="1" u="none" strike="noStrike" dirty="0">
                          <a:effectLst/>
                        </a:rPr>
                        <a:t> externa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200" u="none" strike="noStrike">
                          <a:effectLst/>
                        </a:rPr>
                        <a:t>150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60364"/>
                  </a:ext>
                </a:extLst>
              </a:tr>
              <a:tr h="867259">
                <a:tc>
                  <a:txBody>
                    <a:bodyPr/>
                    <a:lstStyle/>
                    <a:p>
                      <a:pPr algn="l" fontAlgn="ctr"/>
                      <a:r>
                        <a:rPr lang="es-ES" sz="3200" b="1" u="none" strike="noStrike" dirty="0">
                          <a:effectLst/>
                        </a:rPr>
                        <a:t>Mano de obra y desarrollo</a:t>
                      </a:r>
                      <a:endParaRPr lang="es-E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200" u="none" strike="noStrike">
                          <a:effectLst/>
                        </a:rPr>
                        <a:t>27680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6390470"/>
                  </a:ext>
                </a:extLst>
              </a:tr>
              <a:tr h="8672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3200" b="1" u="none" strike="noStrike" dirty="0" err="1">
                          <a:effectLst/>
                        </a:rPr>
                        <a:t>Costo</a:t>
                      </a:r>
                      <a:r>
                        <a:rPr lang="en-US" sz="3200" b="1" u="none" strike="noStrike" dirty="0">
                          <a:effectLst/>
                        </a:rPr>
                        <a:t> total del </a:t>
                      </a:r>
                      <a:r>
                        <a:rPr lang="en-US" sz="3200" b="1" u="none" strike="noStrike" dirty="0" err="1">
                          <a:effectLst/>
                        </a:rPr>
                        <a:t>prototipo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200" u="none" strike="noStrike" dirty="0">
                          <a:effectLst/>
                        </a:rPr>
                        <a:t>30437 </a:t>
                      </a:r>
                      <a:r>
                        <a:rPr lang="en-US" sz="3200" u="none" strike="noStrike" dirty="0" err="1">
                          <a:effectLst/>
                        </a:rPr>
                        <a:t>Bs</a:t>
                      </a:r>
                      <a:r>
                        <a:rPr lang="en-US" sz="3200" u="none" strike="noStrike" dirty="0">
                          <a:effectLst/>
                        </a:rPr>
                        <a:t>.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5970838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718948" y="11662415"/>
            <a:ext cx="1551165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2800" i="1" u="sng" dirty="0" err="1"/>
              <a:t>Obj</a:t>
            </a:r>
            <a:r>
              <a:rPr lang="es-ES" sz="2800" i="1" u="sng" dirty="0"/>
              <a:t>. 7 - Análisis financiero que demuestra una reducción de costos frente al mercado comercial.</a:t>
            </a:r>
            <a:endParaRPr lang="en-US" sz="2800" i="1" u="sng" dirty="0"/>
          </a:p>
        </p:txBody>
      </p:sp>
    </p:spTree>
    <p:extLst>
      <p:ext uri="{BB962C8B-B14F-4D97-AF65-F5344CB8AC3E}">
        <p14:creationId xmlns:p14="http://schemas.microsoft.com/office/powerpoint/2010/main" val="199300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 smtClean="0"/>
              <a:t>Conclusiones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3519489"/>
            <a:ext cx="23054478" cy="6619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lnSpcReduction="10000"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Viabilidad Mecatrónica: Se logró el diseño de un simulador funcional con un costo de materiales de 2,757 Bs, representando una alternativa económicamente viable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Sincronización</a:t>
            </a:r>
            <a:r>
              <a:rPr lang="es-ES" sz="4000" dirty="0"/>
              <a:t>: La telemetría asíncrona garantizó una latencia promedio de 16.04 ms y 60 FPS estables, eliminando la desorientación sensorial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Precisión </a:t>
            </a:r>
            <a:r>
              <a:rPr lang="es-ES" sz="4000" dirty="0"/>
              <a:t>de </a:t>
            </a:r>
            <a:r>
              <a:rPr lang="es-ES" sz="4000" dirty="0" err="1"/>
              <a:t>Sensado</a:t>
            </a:r>
            <a:r>
              <a:rPr lang="es-ES" sz="4000" dirty="0"/>
              <a:t>: El filtrado híbrido redujo el error de botones a 0%, el </a:t>
            </a:r>
            <a:r>
              <a:rPr lang="es-ES" sz="4000" dirty="0" err="1"/>
              <a:t>encoder</a:t>
            </a:r>
            <a:r>
              <a:rPr lang="es-ES" sz="4000" dirty="0"/>
              <a:t> a 2% y mantuvo una desviación angular máxima de 0.18</a:t>
            </a:r>
            <a:r>
              <a:rPr lang="es-ES" sz="4000" dirty="0" smtClean="0"/>
              <a:t>°.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Validación </a:t>
            </a:r>
            <a:r>
              <a:rPr lang="es-ES" sz="4000" dirty="0"/>
              <a:t>Clínica: El panel de 4 especialistas evaluó el sistema con 8.25/10 para su integración en laboratorios introductorios.</a:t>
            </a:r>
            <a:endParaRPr lang="es-ES" sz="4000" dirty="0" smtClean="0"/>
          </a:p>
        </p:txBody>
      </p:sp>
    </p:spTree>
    <p:extLst>
      <p:ext uri="{BB962C8B-B14F-4D97-AF65-F5344CB8AC3E}">
        <p14:creationId xmlns:p14="http://schemas.microsoft.com/office/powerpoint/2010/main" val="170966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18948" y="1678889"/>
            <a:ext cx="22860001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lvl="0">
              <a:spcBef>
                <a:spcPts val="0"/>
              </a:spcBef>
              <a:buSzPts val="7221"/>
            </a:pPr>
            <a:r>
              <a:rPr lang="en-US" sz="8000" dirty="0" err="1"/>
              <a:t>Trabajo</a:t>
            </a:r>
            <a:r>
              <a:rPr lang="en-US" sz="8000" dirty="0"/>
              <a:t> </a:t>
            </a:r>
            <a:r>
              <a:rPr lang="en-US" sz="8000" dirty="0" err="1"/>
              <a:t>Futuro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sp>
        <p:nvSpPr>
          <p:cNvPr id="13" name="Google Shape;98;p2"/>
          <p:cNvSpPr txBox="1">
            <a:spLocks noGrp="1"/>
          </p:cNvSpPr>
          <p:nvPr>
            <p:ph type="body" idx="2"/>
          </p:nvPr>
        </p:nvSpPr>
        <p:spPr>
          <a:xfrm>
            <a:off x="603822" y="3519489"/>
            <a:ext cx="23054478" cy="6619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/>
              <a:t>Materiales </a:t>
            </a:r>
            <a:r>
              <a:rPr lang="es-ES" sz="4000" dirty="0" err="1"/>
              <a:t>Biocompatibles</a:t>
            </a:r>
            <a:r>
              <a:rPr lang="es-ES" sz="4000" dirty="0"/>
              <a:t>: Transición del PLA hacia elastómeros de silicona (Shore 00) y recubrimientos de teflón para replicar la resistencia de la mucosa intestinal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Retroalimentación </a:t>
            </a:r>
            <a:r>
              <a:rPr lang="es-ES" sz="4000" dirty="0"/>
              <a:t>Activa: Integración de motores de </a:t>
            </a:r>
            <a:r>
              <a:rPr lang="es-ES" sz="4000" dirty="0" err="1"/>
              <a:t>Force</a:t>
            </a:r>
            <a:r>
              <a:rPr lang="es-ES" sz="4000" dirty="0"/>
              <a:t> </a:t>
            </a:r>
            <a:r>
              <a:rPr lang="es-ES" sz="4000" dirty="0" err="1"/>
              <a:t>Feedback</a:t>
            </a:r>
            <a:r>
              <a:rPr lang="es-ES" sz="4000" dirty="0"/>
              <a:t> y celdas de carga para emular la inversión de torque y la resistencia anatómica profunda</a:t>
            </a:r>
            <a:r>
              <a:rPr lang="es-ES" sz="4000" dirty="0" smtClean="0"/>
              <a:t>.</a:t>
            </a:r>
          </a:p>
          <a:p>
            <a:pPr marL="635000" lvl="0" indent="-635000">
              <a:spcBef>
                <a:spcPts val="0"/>
              </a:spcBef>
              <a:buSzPts val="5040"/>
            </a:pPr>
            <a:endParaRPr lang="es-ES" sz="4000" dirty="0" smtClean="0"/>
          </a:p>
          <a:p>
            <a:pPr marL="635000" lvl="0" indent="-635000">
              <a:spcBef>
                <a:spcPts val="0"/>
              </a:spcBef>
              <a:buSzPts val="5040"/>
            </a:pPr>
            <a:r>
              <a:rPr lang="es-ES" sz="4000" dirty="0" smtClean="0"/>
              <a:t>Motor </a:t>
            </a:r>
            <a:r>
              <a:rPr lang="es-ES" sz="4000" dirty="0"/>
              <a:t>de Físicas Avanzado: Migración a dinámicas de cuerpos blandos (</a:t>
            </a:r>
            <a:r>
              <a:rPr lang="es-ES" sz="4000" dirty="0" err="1"/>
              <a:t>Soft-Body</a:t>
            </a:r>
            <a:r>
              <a:rPr lang="es-ES" sz="4000" dirty="0"/>
              <a:t> Dynamics) en </a:t>
            </a:r>
            <a:r>
              <a:rPr lang="es-ES" sz="4000" dirty="0" err="1"/>
              <a:t>Unity</a:t>
            </a:r>
            <a:r>
              <a:rPr lang="es-ES" sz="4000" dirty="0"/>
              <a:t> para deformación plástica realista de los pólipos.</a:t>
            </a:r>
            <a:endParaRPr lang="es-ES" sz="4000" dirty="0" smtClean="0"/>
          </a:p>
        </p:txBody>
      </p:sp>
    </p:spTree>
    <p:extLst>
      <p:ext uri="{BB962C8B-B14F-4D97-AF65-F5344CB8AC3E}">
        <p14:creationId xmlns:p14="http://schemas.microsoft.com/office/powerpoint/2010/main" val="166777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20" y="12175294"/>
            <a:ext cx="24419546" cy="1558061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chemeClr val="accent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03835" y="1438933"/>
            <a:ext cx="22851481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6" name="Google Shape;96;p2"/>
          <p:cNvSpPr txBox="1"/>
          <p:nvPr/>
        </p:nvSpPr>
        <p:spPr>
          <a:xfrm>
            <a:off x="603822" y="634650"/>
            <a:ext cx="65415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000"/>
              <a:buFont typeface="Avenir"/>
              <a:buNone/>
            </a:pPr>
            <a:r>
              <a:rPr lang="en-US" sz="30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TALLER DE GRADO </a:t>
            </a:r>
            <a:r>
              <a:rPr lang="en-US" sz="30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r>
              <a:rPr lang="en-US" sz="3000" b="1" i="0" u="none" strike="noStrike" cap="none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-202</a:t>
            </a:r>
            <a:r>
              <a:rPr lang="en-US" sz="30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 sz="3000" b="1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4330666" y="1489327"/>
            <a:ext cx="14456574" cy="313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 algn="ctr">
              <a:spcBef>
                <a:spcPts val="0"/>
              </a:spcBef>
              <a:buSzPts val="7221"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sz="11500" dirty="0" smtClean="0"/>
              <a:t>Muchas Gracias.</a:t>
            </a:r>
            <a:endParaRPr dirty="0"/>
          </a:p>
        </p:txBody>
      </p:sp>
      <p:sp>
        <p:nvSpPr>
          <p:cNvPr id="99" name="Google Shape;99;p2"/>
          <p:cNvSpPr txBox="1"/>
          <p:nvPr/>
        </p:nvSpPr>
        <p:spPr>
          <a:xfrm>
            <a:off x="14665569" y="98492"/>
            <a:ext cx="8992731" cy="130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 algn="r">
              <a:buClr>
                <a:srgbClr val="838787"/>
              </a:buClr>
              <a:buSzPts val="3000"/>
            </a:pPr>
            <a:r>
              <a:rPr lang="en-US" sz="24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Alejandro Eduardo Albarracin </a:t>
            </a:r>
            <a:r>
              <a:rPr lang="en-US" sz="2400" b="1" dirty="0" smtClean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Rodriguez</a:t>
            </a:r>
          </a:p>
          <a:p>
            <a:pPr lvl="0" algn="r">
              <a:buClr>
                <a:srgbClr val="838787"/>
              </a:buClr>
              <a:buSzPts val="30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TUTOR: Guillermo Enrique Manning Soria </a:t>
            </a:r>
            <a:r>
              <a:rPr lang="en-US" sz="1800" b="1" dirty="0" err="1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Galvarro</a:t>
            </a:r>
            <a:endParaRPr sz="1800" b="1" i="0" u="none" strike="noStrike" cap="none" dirty="0" smtClean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PANELISTA: Xavier Alexis Murillo Sanchez</a:t>
            </a:r>
            <a:endParaRPr sz="1800" b="1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  <a:p>
            <a:pPr lvl="0" algn="r">
              <a:buClr>
                <a:srgbClr val="838787"/>
              </a:buClr>
              <a:buSzPts val="2400"/>
            </a:pPr>
            <a:r>
              <a:rPr lang="en-US" sz="1800" b="1" i="0" u="none" strike="noStrike" cap="none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RELATOR</a:t>
            </a:r>
            <a:r>
              <a:rPr lang="en-US" sz="1800" b="1" dirty="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rPr>
              <a:t>: Andrés Leonardo Gutierrez Rocha</a:t>
            </a:r>
            <a:endParaRPr sz="1800" b="0" i="0" u="none" strike="noStrike" cap="none" dirty="0">
              <a:solidFill>
                <a:srgbClr val="83878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23455316" y="11395271"/>
            <a:ext cx="827085" cy="54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77B1B9-62AA-1DC0-3355-D4694696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3" y="11350695"/>
            <a:ext cx="3166617" cy="3166617"/>
          </a:xfrm>
          <a:prstGeom prst="rect">
            <a:avLst/>
          </a:prstGeom>
        </p:spPr>
      </p:pic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744A220-7415-A39D-436C-2EF31018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70" y="12225687"/>
            <a:ext cx="3363578" cy="1416632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6070" y="3829452"/>
            <a:ext cx="5955323" cy="5955323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16661919" y="9786119"/>
            <a:ext cx="33436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dirty="0" smtClean="0"/>
              <a:t>Repositorio en GitHub</a:t>
            </a:r>
            <a:endParaRPr lang="en-US" sz="28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614" y="5486669"/>
            <a:ext cx="12430670" cy="3034537"/>
          </a:xfrm>
          <a:prstGeom prst="rect">
            <a:avLst/>
          </a:prstGeom>
        </p:spPr>
      </p:pic>
      <p:sp>
        <p:nvSpPr>
          <p:cNvPr id="15" name="Rectángulo 14"/>
          <p:cNvSpPr/>
          <p:nvPr/>
        </p:nvSpPr>
        <p:spPr>
          <a:xfrm>
            <a:off x="4173930" y="8524606"/>
            <a:ext cx="63940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i="1" dirty="0" smtClean="0">
                <a:latin typeface="-apple-system"/>
              </a:rPr>
              <a:t>Requerimientos mínimos de la aplicación</a:t>
            </a:r>
            <a:endParaRPr lang="en-US" sz="2400" i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2898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13030</TotalTime>
  <Words>2071</Words>
  <Application>Microsoft Office PowerPoint</Application>
  <PresentationFormat>Personalizado</PresentationFormat>
  <Paragraphs>289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Arial</vt:lpstr>
      <vt:lpstr>Helvetica Neue</vt:lpstr>
      <vt:lpstr>Calibri</vt:lpstr>
      <vt:lpstr>-apple-system</vt:lpstr>
      <vt:lpstr>Avenir</vt:lpstr>
      <vt:lpstr>New_Template7</vt:lpstr>
      <vt:lpstr>Simulador híbrido físico-virtual para el entrenamiento de resección de pólipos intestinales</vt:lpstr>
      <vt:lpstr>Introducción</vt:lpstr>
      <vt:lpstr>Planteamiento del Problema</vt:lpstr>
      <vt:lpstr>Objetivo General</vt:lpstr>
      <vt:lpstr>Estado del Arte y Ventaja Competitiva</vt:lpstr>
      <vt:lpstr>Arquitectura Híbrida Físico-Virtual</vt:lpstr>
      <vt:lpstr>Arquitectura Electrónica Embebida</vt:lpstr>
      <vt:lpstr>Sensado Magnético</vt:lpstr>
      <vt:lpstr>Filtrado Analógico y Digital</vt:lpstr>
      <vt:lpstr>Diseño Mecánico y Tren Cinemático</vt:lpstr>
      <vt:lpstr>Cinemática de Inserción Longitudinal</vt:lpstr>
      <vt:lpstr>Sincronización y Telemetría </vt:lpstr>
      <vt:lpstr>Cinemática Virtual (Interpolación Slerp)</vt:lpstr>
      <vt:lpstr>Generación Procedural y Clasificación de Yamada</vt:lpstr>
      <vt:lpstr>Máquina de Estados Finita Quirúrgica (FSM)</vt:lpstr>
      <vt:lpstr>Motor de Fluidos y Evaluación Ponderada</vt:lpstr>
      <vt:lpstr>Fiabilidad de Sensado y Desviación Angular</vt:lpstr>
      <vt:lpstr>Tiempos de Latencia y Renderizado</vt:lpstr>
      <vt:lpstr>Validación Cinemática de Inserción</vt:lpstr>
      <vt:lpstr>Evaluación por Médicos Especialistas</vt:lpstr>
      <vt:lpstr>Análisis de Costos (1$=9.96 Bs.)</vt:lpstr>
      <vt:lpstr>Conclusiones</vt:lpstr>
      <vt:lpstr>Trabajo Futuro</vt:lpstr>
      <vt:lpstr> Muchas Gracias.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Híbrido Físico-Virtual para el Entrenamiento de Resección de Pólipos Intestinales</dc:title>
  <dc:creator>MiguelAngel</dc:creator>
  <cp:lastModifiedBy>Alejandro Eduardo Albarracin Rodriguez</cp:lastModifiedBy>
  <cp:revision>83</cp:revision>
  <dcterms:modified xsi:type="dcterms:W3CDTF">2026-07-28T22:49:16Z</dcterms:modified>
</cp:coreProperties>
</file>