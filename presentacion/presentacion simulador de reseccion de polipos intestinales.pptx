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61" r:id="rId5"/>
    <p:sldId id="281" r:id="rId6"/>
    <p:sldId id="259" r:id="rId7"/>
    <p:sldId id="263" r:id="rId8"/>
    <p:sldId id="271" r:id="rId9"/>
    <p:sldId id="273" r:id="rId10"/>
    <p:sldId id="270" r:id="rId11"/>
    <p:sldId id="272" r:id="rId12"/>
    <p:sldId id="262" r:id="rId13"/>
    <p:sldId id="264" r:id="rId14"/>
    <p:sldId id="269" r:id="rId15"/>
    <p:sldId id="274" r:id="rId16"/>
    <p:sldId id="275" r:id="rId17"/>
    <p:sldId id="276" r:id="rId18"/>
    <p:sldId id="277" r:id="rId19"/>
    <p:sldId id="278" r:id="rId20"/>
    <p:sldId id="282" r:id="rId21"/>
    <p:sldId id="279" r:id="rId22"/>
    <p:sldId id="280" r:id="rId23"/>
    <p:sldId id="283" r:id="rId24"/>
    <p:sldId id="284" r:id="rId25"/>
  </p:sldIdLst>
  <p:sldSz cx="24384000" cy="13716000"/>
  <p:notesSz cx="6858000" cy="9144000"/>
  <p:embeddedFontLst>
    <p:embeddedFont>
      <p:font typeface="Calibri" panose="020F0502020204030204" pitchFamily="34" charset="0"/>
      <p:regular r:id="rId27"/>
      <p:bold r:id="rId28"/>
      <p:italic r:id="rId29"/>
      <p:boldItalic r:id="rId30"/>
    </p:embeddedFont>
    <p:embeddedFont>
      <p:font typeface="Helvetica Neue" panose="020B0604020202020204" charset="0"/>
      <p:regular r:id="rId31"/>
      <p:bold r:id="rId32"/>
      <p:italic r:id="rId33"/>
      <p:boldItalic r:id="rId3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20">
          <p15:clr>
            <a:srgbClr val="A4A3A4"/>
          </p15:clr>
        </p15:guide>
        <p15:guide id="2" pos="768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5" roundtripDataSignature="AMtx7mjKRiMRnIP7qsZDfWs0QIaIDMcUn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5" d="100"/>
          <a:sy n="55" d="100"/>
        </p:scale>
        <p:origin x="672" y="42"/>
      </p:cViewPr>
      <p:guideLst>
        <p:guide orient="horz" pos="4320"/>
        <p:guide pos="768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7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customschemas.google.com/relationships/presentationmetadata" Target="meta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4711457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65781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33726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727507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18753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55048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294269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08083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0661688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5678153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53017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8588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5591596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127575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46359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685809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193110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120697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28554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210577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59023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09230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oogle Shape;11;p12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12" name="Google Shape;12;p12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2"/>
          <p:cNvSpPr txBox="1">
            <a:spLocks noGrp="1"/>
          </p:cNvSpPr>
          <p:nvPr>
            <p:ph type="body" idx="1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4" name="Google Shape;14;p12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" type="tx">
  <p:cSld name="TITLE_AND_BODY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3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7" name="Google Shape;17;p13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3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19" name="Google Shape;19;p13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Horizontal">
  <p:cSld name="Photo - Horizontal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4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1" cy="137160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22" name="Google Shape;22;p14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3" name="Google Shape;23;p14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4"/>
          <p:cNvSpPr txBox="1">
            <a:spLocks noGrp="1"/>
          </p:cNvSpPr>
          <p:nvPr>
            <p:ph type="body" idx="3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25" name="Google Shape;25;p14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Subtitle Alt">
  <p:cSld name="Title &amp; Subtitle Alt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Google Shape;27;p15"/>
          <p:cNvCxnSpPr/>
          <p:nvPr/>
        </p:nvCxnSpPr>
        <p:spPr>
          <a:xfrm rot="10800000" flipH="1">
            <a:off x="762000" y="8635632"/>
            <a:ext cx="22860000" cy="369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28" name="Google Shape;28;p15"/>
          <p:cNvSpPr txBox="1">
            <a:spLocks noGrp="1"/>
          </p:cNvSpPr>
          <p:nvPr>
            <p:ph type="title"/>
          </p:nvPr>
        </p:nvSpPr>
        <p:spPr>
          <a:xfrm>
            <a:off x="762000" y="9042400"/>
            <a:ext cx="22860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5"/>
          <p:cNvSpPr txBox="1">
            <a:spLocks noGrp="1"/>
          </p:cNvSpPr>
          <p:nvPr>
            <p:ph type="body" idx="1"/>
          </p:nvPr>
        </p:nvSpPr>
        <p:spPr>
          <a:xfrm>
            <a:off x="762000" y="5994400"/>
            <a:ext cx="22860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30" name="Google Shape;30;p15"/>
          <p:cNvSpPr txBox="1">
            <a:spLocks noGrp="1"/>
          </p:cNvSpPr>
          <p:nvPr>
            <p:ph type="sldNum" idx="12"/>
          </p:nvPr>
        </p:nvSpPr>
        <p:spPr>
          <a:xfrm>
            <a:off x="23013220" y="584200"/>
            <a:ext cx="553195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Center">
  <p:cSld name="Title - Cent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6"/>
          <p:cNvSpPr txBox="1">
            <a:spLocks noGrp="1"/>
          </p:cNvSpPr>
          <p:nvPr>
            <p:ph type="title"/>
          </p:nvPr>
        </p:nvSpPr>
        <p:spPr>
          <a:xfrm>
            <a:off x="762000" y="5676900"/>
            <a:ext cx="22860000" cy="63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6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Vertical">
  <p:cSld name="Photo - Vertical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17"/>
          <p:cNvCxnSpPr/>
          <p:nvPr/>
        </p:nvCxnSpPr>
        <p:spPr>
          <a:xfrm rot="10800000" flipH="1">
            <a:off x="11049000" y="8635798"/>
            <a:ext cx="12572997" cy="203"/>
          </a:xfrm>
          <a:prstGeom prst="straightConnector1">
            <a:avLst/>
          </a:prstGeom>
          <a:noFill/>
          <a:ln w="508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36" name="Google Shape;36;p17"/>
          <p:cNvSpPr>
            <a:spLocks noGrp="1"/>
          </p:cNvSpPr>
          <p:nvPr>
            <p:ph type="pic" idx="2"/>
          </p:nvPr>
        </p:nvSpPr>
        <p:spPr>
          <a:xfrm>
            <a:off x="0" y="0"/>
            <a:ext cx="102870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37" name="Google Shape;37;p17"/>
          <p:cNvSpPr txBox="1">
            <a:spLocks noGrp="1"/>
          </p:cNvSpPr>
          <p:nvPr>
            <p:ph type="title"/>
          </p:nvPr>
        </p:nvSpPr>
        <p:spPr>
          <a:xfrm>
            <a:off x="11049000" y="9042400"/>
            <a:ext cx="12573000" cy="3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0300"/>
              <a:buFont typeface="Arial"/>
              <a:buNone/>
              <a:defRPr sz="30300"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7"/>
          <p:cNvSpPr txBox="1">
            <a:spLocks noGrp="1"/>
          </p:cNvSpPr>
          <p:nvPr>
            <p:ph type="body" idx="1"/>
          </p:nvPr>
        </p:nvSpPr>
        <p:spPr>
          <a:xfrm>
            <a:off x="11049000" y="5994400"/>
            <a:ext cx="12573000" cy="2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>
            <a:lvl1pPr marL="457200" lvl="0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lvl="3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lvl="4" indent="-228600" algn="l">
              <a:lnSpc>
                <a:spcPct val="80000"/>
              </a:lnSpc>
              <a:spcBef>
                <a:spcPts val="3200"/>
              </a:spcBef>
              <a:spcAft>
                <a:spcPts val="0"/>
              </a:spcAft>
              <a:buClr>
                <a:srgbClr val="A6AAA9"/>
              </a:buClr>
              <a:buSzPts val="7700"/>
              <a:buFont typeface="Arial"/>
              <a:buNone/>
              <a:defRPr sz="7700" cap="none">
                <a:solidFill>
                  <a:srgbClr val="A6AAA9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39" name="Google Shape;39;p17"/>
          <p:cNvSpPr txBox="1">
            <a:spLocks noGrp="1"/>
          </p:cNvSpPr>
          <p:nvPr>
            <p:ph type="sldNum" idx="12"/>
          </p:nvPr>
        </p:nvSpPr>
        <p:spPr>
          <a:xfrm>
            <a:off x="23063198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- Top">
  <p:cSld name="Title - Top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2" name="Google Shape;42;p18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18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&amp; Bullets Alt">
  <p:cSld name="Title &amp; Bullets Al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9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9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, Bullets &amp; Photo">
  <p:cSld name="Title, Bullets &amp; Photo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>
            <a:spLocks noGrp="1"/>
          </p:cNvSpPr>
          <p:nvPr>
            <p:ph type="pic" idx="2"/>
          </p:nvPr>
        </p:nvSpPr>
        <p:spPr>
          <a:xfrm>
            <a:off x="13335000" y="2159000"/>
            <a:ext cx="10287000" cy="10795000"/>
          </a:xfrm>
          <a:prstGeom prst="rect">
            <a:avLst/>
          </a:prstGeom>
          <a:noFill/>
          <a:ln>
            <a:noFill/>
          </a:ln>
        </p:spPr>
      </p:sp>
      <p:sp>
        <p:nvSpPr>
          <p:cNvPr id="52" name="Google Shape;52;p20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11811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lvl="0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2pPr>
            <a:lvl3pPr lvl="2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3pPr>
            <a:lvl4pPr lvl="3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4pPr>
            <a:lvl5pPr lvl="4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5pPr>
            <a:lvl6pPr lvl="5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6pPr>
            <a:lvl7pPr lvl="6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7pPr>
            <a:lvl8pPr lvl="7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8pPr>
            <a:lvl9pPr lvl="8" algn="l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body" idx="3"/>
          </p:nvPr>
        </p:nvSpPr>
        <p:spPr>
          <a:xfrm>
            <a:off x="762000" y="3860800"/>
            <a:ext cx="11811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1pPr>
            <a:lvl2pPr marL="914400" lvl="1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2pPr>
            <a:lvl3pPr marL="1371600" lvl="2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3pPr>
            <a:lvl4pPr marL="1828800" lvl="3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4pPr>
            <a:lvl5pPr marL="2286000" lvl="4" indent="-495300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4200"/>
              <a:buChar char="▸"/>
              <a:defRPr sz="4000"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4" name="Google Shape;54;p20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ullets">
  <p:cSld name="Bullets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1"/>
          <p:cNvSpPr txBox="1">
            <a:spLocks noGrp="1"/>
          </p:cNvSpPr>
          <p:nvPr>
            <p:ph type="body" idx="1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body" idx="2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lvl="0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1pPr>
            <a:lvl2pPr marL="914400" lvl="1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2pPr>
            <a:lvl3pPr marL="1371600" lvl="2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3pPr>
            <a:lvl4pPr marL="1828800" lvl="3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4pPr>
            <a:lvl5pPr marL="2286000" lvl="4" indent="-37147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2250"/>
              <a:buChar char="▸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 - 3 Up">
  <p:cSld name="Photo - 3 Up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2"/>
          <p:cNvSpPr>
            <a:spLocks noGrp="1"/>
          </p:cNvSpPr>
          <p:nvPr>
            <p:ph type="pic" idx="2"/>
          </p:nvPr>
        </p:nvSpPr>
        <p:spPr>
          <a:xfrm>
            <a:off x="12192000" y="0"/>
            <a:ext cx="12192000" cy="6832600"/>
          </a:xfrm>
          <a:prstGeom prst="rect">
            <a:avLst/>
          </a:prstGeom>
          <a:noFill/>
          <a:ln>
            <a:noFill/>
          </a:ln>
        </p:spPr>
      </p:sp>
      <p:sp>
        <p:nvSpPr>
          <p:cNvPr id="61" name="Google Shape;61;p22"/>
          <p:cNvSpPr>
            <a:spLocks noGrp="1"/>
          </p:cNvSpPr>
          <p:nvPr>
            <p:ph type="pic" idx="3"/>
          </p:nvPr>
        </p:nvSpPr>
        <p:spPr>
          <a:xfrm>
            <a:off x="12192000" y="6896100"/>
            <a:ext cx="12192000" cy="6819900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2"/>
          <p:cNvSpPr>
            <a:spLocks noGrp="1"/>
          </p:cNvSpPr>
          <p:nvPr>
            <p:ph type="pic" idx="4"/>
          </p:nvPr>
        </p:nvSpPr>
        <p:spPr>
          <a:xfrm>
            <a:off x="0" y="0"/>
            <a:ext cx="121285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22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3"/>
          <p:cNvSpPr/>
          <p:nvPr/>
        </p:nvSpPr>
        <p:spPr>
          <a:xfrm>
            <a:off x="876300" y="3314700"/>
            <a:ext cx="22631400" cy="7317185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19" y="0"/>
                </a:moveTo>
                <a:cubicBezTo>
                  <a:pt x="54" y="0"/>
                  <a:pt x="0" y="165"/>
                  <a:pt x="0" y="369"/>
                </a:cubicBezTo>
                <a:lnTo>
                  <a:pt x="0" y="19013"/>
                </a:lnTo>
                <a:cubicBezTo>
                  <a:pt x="0" y="19217"/>
                  <a:pt x="54" y="19382"/>
                  <a:pt x="119" y="19382"/>
                </a:cubicBezTo>
                <a:lnTo>
                  <a:pt x="18186" y="19382"/>
                </a:lnTo>
                <a:lnTo>
                  <a:pt x="18717" y="21600"/>
                </a:lnTo>
                <a:lnTo>
                  <a:pt x="19247" y="19382"/>
                </a:lnTo>
                <a:lnTo>
                  <a:pt x="21481" y="19382"/>
                </a:lnTo>
                <a:cubicBezTo>
                  <a:pt x="21546" y="19382"/>
                  <a:pt x="21600" y="19217"/>
                  <a:pt x="21600" y="19013"/>
                </a:cubicBezTo>
                <a:lnTo>
                  <a:pt x="21600" y="369"/>
                </a:lnTo>
                <a:cubicBezTo>
                  <a:pt x="21600" y="165"/>
                  <a:pt x="21546" y="0"/>
                  <a:pt x="21481" y="0"/>
                </a:cubicBezTo>
                <a:lnTo>
                  <a:pt x="119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66" name="Google Shape;66;p23"/>
          <p:cNvSpPr txBox="1">
            <a:spLocks noGrp="1"/>
          </p:cNvSpPr>
          <p:nvPr>
            <p:ph type="body" idx="1"/>
          </p:nvPr>
        </p:nvSpPr>
        <p:spPr>
          <a:xfrm>
            <a:off x="1676400" y="4089400"/>
            <a:ext cx="21056600" cy="1805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400"/>
              <a:buFont typeface="Arial"/>
              <a:buNone/>
              <a:defRPr sz="134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7" name="Google Shape;67;p23"/>
          <p:cNvSpPr txBox="1">
            <a:spLocks noGrp="1"/>
          </p:cNvSpPr>
          <p:nvPr>
            <p:ph type="body" idx="2"/>
          </p:nvPr>
        </p:nvSpPr>
        <p:spPr>
          <a:xfrm>
            <a:off x="762000" y="10953750"/>
            <a:ext cx="22860000" cy="12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>
            <a:lvl1pPr marL="457200" lvl="0" indent="-22860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8700"/>
              <a:buFont typeface="Arial"/>
              <a:buNone/>
              <a:defRPr sz="8700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8" name="Google Shape;68;p23"/>
          <p:cNvSpPr txBox="1">
            <a:spLocks noGrp="1"/>
          </p:cNvSpPr>
          <p:nvPr>
            <p:ph type="body" idx="3"/>
          </p:nvPr>
        </p:nvSpPr>
        <p:spPr>
          <a:xfrm>
            <a:off x="762000" y="635000"/>
            <a:ext cx="2095500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cap="none"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69" name="Google Shape;69;p23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 Alt">
  <p:cSld name="Quote Alt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24"/>
          <p:cNvSpPr txBox="1">
            <a:spLocks noGrp="1"/>
          </p:cNvSpPr>
          <p:nvPr>
            <p:ph type="body" idx="1"/>
          </p:nvPr>
        </p:nvSpPr>
        <p:spPr>
          <a:xfrm>
            <a:off x="11049000" y="3721100"/>
            <a:ext cx="12573000" cy="18059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457200" lvl="0" indent="-2286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400"/>
              <a:buFont typeface="Arial"/>
              <a:buNone/>
              <a:defRPr sz="13400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72" name="Google Shape;72;p24"/>
          <p:cNvSpPr>
            <a:spLocks noGrp="1"/>
          </p:cNvSpPr>
          <p:nvPr>
            <p:ph type="pic" idx="2"/>
          </p:nvPr>
        </p:nvSpPr>
        <p:spPr>
          <a:xfrm>
            <a:off x="0" y="0"/>
            <a:ext cx="10287000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73" name="Google Shape;73;p24"/>
          <p:cNvSpPr txBox="1">
            <a:spLocks noGrp="1"/>
          </p:cNvSpPr>
          <p:nvPr>
            <p:ph type="body" idx="3"/>
          </p:nvPr>
        </p:nvSpPr>
        <p:spPr>
          <a:xfrm>
            <a:off x="11049000" y="10953750"/>
            <a:ext cx="12573000" cy="120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32323"/>
              </a:buClr>
              <a:buSzPts val="8700"/>
              <a:buFont typeface="Arial"/>
              <a:buNone/>
              <a:defRPr sz="8700">
                <a:solidFill>
                  <a:srgbClr val="23232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2pPr>
            <a:lvl3pPr marL="1371600" lvl="2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3pPr>
            <a:lvl4pPr marL="1828800" lvl="3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4pPr>
            <a:lvl5pPr marL="2286000" lvl="4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5pPr>
            <a:lvl6pPr marL="2743200" lvl="5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6pPr>
            <a:lvl7pPr marL="3200400" lvl="6" indent="-348614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7pPr>
            <a:lvl8pPr marL="3657600" lvl="7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8pPr>
            <a:lvl9pPr marL="4114800" lvl="8" indent="-348615" algn="l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SzPts val="1890"/>
              <a:buChar char="‣"/>
              <a:defRPr/>
            </a:lvl9pPr>
          </a:lstStyle>
          <a:p>
            <a:endParaRPr/>
          </a:p>
        </p:txBody>
      </p:sp>
      <p:sp>
        <p:nvSpPr>
          <p:cNvPr id="74" name="Google Shape;74;p24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hoto">
  <p:cSld name="Photo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5"/>
          <p:cNvSpPr>
            <a:spLocks noGrp="1"/>
          </p:cNvSpPr>
          <p:nvPr>
            <p:ph type="pic" idx="2"/>
          </p:nvPr>
        </p:nvSpPr>
        <p:spPr>
          <a:xfrm>
            <a:off x="0" y="0"/>
            <a:ext cx="24384001" cy="13716000"/>
          </a:xfrm>
          <a:prstGeom prst="rect">
            <a:avLst/>
          </a:prstGeom>
          <a:noFill/>
          <a:ln>
            <a:noFill/>
          </a:ln>
        </p:spPr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Alt">
  <p:cSld name="Blank Al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7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Google Shape;6;p11"/>
          <p:cNvCxnSpPr/>
          <p:nvPr/>
        </p:nvCxnSpPr>
        <p:spPr>
          <a:xfrm rot="10800000" flipH="1">
            <a:off x="762000" y="1396632"/>
            <a:ext cx="22860000" cy="369"/>
          </a:xfrm>
          <a:prstGeom prst="straightConnector1">
            <a:avLst/>
          </a:prstGeom>
          <a:noFill/>
          <a:ln w="25400" cap="flat" cmpd="sng">
            <a:solidFill>
              <a:srgbClr val="A6AAA9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7" name="Google Shape;7;p11"/>
          <p:cNvSpPr txBox="1">
            <a:spLocks noGrp="1"/>
          </p:cNvSpPr>
          <p:nvPr>
            <p:ph type="title"/>
          </p:nvPr>
        </p:nvSpPr>
        <p:spPr>
          <a:xfrm>
            <a:off x="762000" y="2159000"/>
            <a:ext cx="2286000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R="0" lvl="0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80000"/>
              </a:lnSpc>
              <a:spcBef>
                <a:spcPts val="3900"/>
              </a:spcBef>
              <a:spcAft>
                <a:spcPts val="0"/>
              </a:spcAft>
              <a:buClr>
                <a:schemeClr val="accent1"/>
              </a:buClr>
              <a:buSzPts val="8700"/>
              <a:buFont typeface="Arial"/>
              <a:buNone/>
              <a:defRPr sz="8700" b="0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1"/>
          <p:cNvSpPr txBox="1">
            <a:spLocks noGrp="1"/>
          </p:cNvSpPr>
          <p:nvPr>
            <p:ph type="body" idx="1"/>
          </p:nvPr>
        </p:nvSpPr>
        <p:spPr>
          <a:xfrm>
            <a:off x="762000" y="3860800"/>
            <a:ext cx="22860000" cy="85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>
            <a:lvl1pPr marL="457200" marR="0" lvl="0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1pPr>
            <a:lvl2pPr marL="914400" marR="0" lvl="1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2pPr>
            <a:lvl3pPr marL="1371600" marR="0" lvl="2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3pPr>
            <a:lvl4pPr marL="1828800" marR="0" lvl="3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4pPr>
            <a:lvl5pPr marL="2286000" marR="0" lvl="4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5pPr>
            <a:lvl6pPr marL="2743200" marR="0" lvl="5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6pPr>
            <a:lvl7pPr marL="3200400" marR="0" lvl="6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7pPr>
            <a:lvl8pPr marL="3657600" marR="0" lvl="7" indent="-548639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8pPr>
            <a:lvl9pPr marL="4114800" marR="0" lvl="8" indent="-548640" algn="l" rtl="0">
              <a:lnSpc>
                <a:spcPct val="100000"/>
              </a:lnSpc>
              <a:spcBef>
                <a:spcPts val="3900"/>
              </a:spcBef>
              <a:spcAft>
                <a:spcPts val="0"/>
              </a:spcAft>
              <a:buClr>
                <a:srgbClr val="38A3D5"/>
              </a:buClr>
              <a:buSzPts val="5040"/>
              <a:buFont typeface="Avenir"/>
              <a:buChar char="‣"/>
              <a:defRPr sz="4800" b="0" i="0" u="none" strike="noStrike" cap="none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defRPr>
            </a:lvl9pPr>
          </a:lstStyle>
          <a:p>
            <a:endParaRPr/>
          </a:p>
        </p:txBody>
      </p:sp>
      <p:sp>
        <p:nvSpPr>
          <p:cNvPr id="9" name="Google Shape;9;p11"/>
          <p:cNvSpPr txBox="1">
            <a:spLocks noGrp="1"/>
          </p:cNvSpPr>
          <p:nvPr>
            <p:ph type="sldNum" idx="12"/>
          </p:nvPr>
        </p:nvSpPr>
        <p:spPr>
          <a:xfrm>
            <a:off x="23059652" y="609600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>
            <a:lvl1pPr marL="0" marR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  <a:defRPr sz="3600" b="0" i="0" u="none" strike="noStrike" cap="none">
                <a:solidFill>
                  <a:srgbClr val="838787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"/>
          <p:cNvSpPr txBox="1">
            <a:spLocks noGrp="1"/>
          </p:cNvSpPr>
          <p:nvPr>
            <p:ph type="ctrTitle" idx="4294967295"/>
          </p:nvPr>
        </p:nvSpPr>
        <p:spPr>
          <a:xfrm>
            <a:off x="762000" y="9042399"/>
            <a:ext cx="22732520" cy="3987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r>
              <a:rPr lang="es-ES" sz="9600" dirty="0"/>
              <a:t>Simulador híbrido físico-virtual para el entrenamiento de resección de pólipos intestinales</a:t>
            </a:r>
          </a:p>
        </p:txBody>
      </p:sp>
      <p:sp>
        <p:nvSpPr>
          <p:cNvPr id="87" name="Google Shape;87;p1"/>
          <p:cNvSpPr txBox="1">
            <a:spLocks noGrp="1"/>
          </p:cNvSpPr>
          <p:nvPr>
            <p:ph type="subTitle" idx="4294967295"/>
          </p:nvPr>
        </p:nvSpPr>
        <p:spPr>
          <a:xfrm>
            <a:off x="762000" y="5709920"/>
            <a:ext cx="22860000" cy="2824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b" anchorCtr="0">
            <a:normAutofit/>
          </a:bodyPr>
          <a:lstStyle/>
          <a:p>
            <a:pPr marL="0" marR="0" lvl="0" indent="0" algn="l" rtl="0">
              <a:lnSpc>
                <a:spcPct val="20000"/>
              </a:lnSpc>
              <a:spcBef>
                <a:spcPts val="0"/>
              </a:spcBef>
              <a:spcAft>
                <a:spcPts val="0"/>
              </a:spcAft>
              <a:buClr>
                <a:srgbClr val="1E1E1E"/>
              </a:buClr>
              <a:buSzPts val="5000"/>
              <a:buFont typeface="Avenir"/>
              <a:buNone/>
            </a:pPr>
            <a:r>
              <a:rPr lang="es-ES" sz="5000" dirty="0" smtClean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Por: Alejandro Eduardo Albarracin Rodriguez</a:t>
            </a:r>
            <a:endParaRPr sz="5000" b="0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20000"/>
              </a:lnSpc>
              <a:spcBef>
                <a:spcPts val="3200"/>
              </a:spcBef>
              <a:buClr>
                <a:srgbClr val="1E1E1E"/>
              </a:buClr>
              <a:buSzPts val="2000"/>
              <a:buNone/>
            </a:pPr>
            <a:r>
              <a:rPr lang="en-US" sz="2000" b="1" i="0" u="none" strike="noStrike" cap="none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TUTOR</a:t>
            </a: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: Guillermo Enrique Manning Soria </a:t>
            </a:r>
            <a:r>
              <a:rPr lang="en-US" sz="2000" b="1" dirty="0" err="1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Galvarro</a:t>
            </a:r>
            <a:endParaRPr lang="en-US" sz="2000" b="1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20000"/>
              </a:lnSpc>
              <a:spcBef>
                <a:spcPts val="3200"/>
              </a:spcBef>
              <a:buClr>
                <a:srgbClr val="1E1E1E"/>
              </a:buClr>
              <a:buSzPts val="2000"/>
              <a:buNone/>
            </a:pP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PANELISTA: </a:t>
            </a:r>
            <a:r>
              <a:rPr lang="en-US" sz="2000" b="1" dirty="0" smtClean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Xavier </a:t>
            </a:r>
            <a:r>
              <a:rPr lang="en-US" sz="2000" b="1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Alexis Murillo Sanchez</a:t>
            </a:r>
            <a:endParaRPr sz="2000" b="1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20000"/>
              </a:lnSpc>
              <a:spcBef>
                <a:spcPts val="3200"/>
              </a:spcBef>
              <a:spcAft>
                <a:spcPts val="0"/>
              </a:spcAft>
              <a:buClr>
                <a:srgbClr val="1E1E1E"/>
              </a:buClr>
              <a:buSzPts val="2000"/>
              <a:buFont typeface="Avenir"/>
              <a:buNone/>
            </a:pPr>
            <a:r>
              <a:rPr lang="en-US" sz="2000" b="1" i="0" u="none" strike="noStrike" cap="none" dirty="0">
                <a:solidFill>
                  <a:srgbClr val="1E1E1E"/>
                </a:solidFill>
                <a:latin typeface="Arial"/>
                <a:ea typeface="Arial"/>
                <a:cs typeface="Arial"/>
                <a:sym typeface="Arial"/>
              </a:rPr>
              <a:t>RELATOR: </a:t>
            </a:r>
            <a:endParaRPr sz="2000" b="1" i="0" u="none" strike="noStrike" cap="none" dirty="0">
              <a:solidFill>
                <a:srgbClr val="1E1E1E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/>
          <p:nvPr/>
        </p:nvSpPr>
        <p:spPr>
          <a:xfrm>
            <a:off x="379228" y="1254950"/>
            <a:ext cx="23622000" cy="595035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FFFFFF"/>
            </a:solidFill>
            <a:prstDash val="solid"/>
            <a:miter lim="400000"/>
            <a:headEnd type="none" w="sm" len="sm"/>
            <a:tailEnd type="none" w="sm" len="sm"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4000"/>
              <a:buFont typeface="Avenir"/>
              <a:buNone/>
            </a:pPr>
            <a:endParaRPr sz="40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" name="Imagen 4" descr="Logotipo&#10;&#10;El contenido generado por IA puede ser incorrecto.">
            <a:extLst>
              <a:ext uri="{FF2B5EF4-FFF2-40B4-BE49-F238E27FC236}">
                <a16:creationId xmlns:a16="http://schemas.microsoft.com/office/drawing/2014/main" id="{65396723-CDF6-A0D7-E88B-02C51035B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228" y="667634"/>
            <a:ext cx="16202783" cy="295975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7221"/>
              <a:buFont typeface="Arial"/>
              <a:buNone/>
            </a:pPr>
            <a:r>
              <a:rPr lang="en-US" sz="7221" b="0" i="0" u="none" strike="noStrike" cap="none" dirty="0" err="1" smtClean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Introducción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403168" y="2834767"/>
            <a:ext cx="23491560" cy="87141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La Organización Mundial de la Salud (a través de datos recopilados en </a:t>
            </a:r>
            <a:r>
              <a:rPr lang="es-ES" sz="4400" i="1" dirty="0" err="1"/>
              <a:t>World</a:t>
            </a:r>
            <a:r>
              <a:rPr lang="es-ES" sz="4400" i="1" dirty="0"/>
              <a:t> </a:t>
            </a:r>
            <a:r>
              <a:rPr lang="es-ES" sz="4400" i="1" dirty="0" err="1"/>
              <a:t>Life</a:t>
            </a:r>
            <a:r>
              <a:rPr lang="es-ES" sz="4400" i="1" dirty="0"/>
              <a:t> </a:t>
            </a:r>
            <a:r>
              <a:rPr lang="es-ES" sz="4400" i="1" dirty="0" err="1"/>
              <a:t>Expectancy</a:t>
            </a:r>
            <a:r>
              <a:rPr lang="es-ES" sz="4400" dirty="0"/>
              <a:t>) indica que en Bolivia hubo cerca de </a:t>
            </a:r>
            <a:r>
              <a:rPr lang="es-ES" sz="4400" b="1" dirty="0"/>
              <a:t>407 muertes atribuidas al cáncer </a:t>
            </a:r>
            <a:r>
              <a:rPr lang="es-ES" sz="4400" b="1" dirty="0" err="1" smtClean="0"/>
              <a:t>colorrectal</a:t>
            </a:r>
            <a:r>
              <a:rPr lang="es-ES" sz="4400" b="1" dirty="0" smtClean="0"/>
              <a:t> en </a:t>
            </a:r>
            <a:r>
              <a:rPr lang="es-ES" sz="4400" b="1" dirty="0" smtClean="0"/>
              <a:t>2020,</a:t>
            </a:r>
            <a:endParaRPr lang="es-ES" sz="4400" b="1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400" b="1" dirty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 smtClean="0"/>
              <a:t>En Bolivia, </a:t>
            </a:r>
            <a:r>
              <a:rPr lang="es-ES" sz="4400" dirty="0"/>
              <a:t>la escasez de </a:t>
            </a:r>
            <a:r>
              <a:rPr lang="es-ES" sz="4400" dirty="0" smtClean="0"/>
              <a:t>simuladores clínicos </a:t>
            </a:r>
            <a:r>
              <a:rPr lang="es-ES" sz="4400" dirty="0"/>
              <a:t>o equipos de </a:t>
            </a:r>
            <a:r>
              <a:rPr lang="es-ES" sz="4400" dirty="0" smtClean="0"/>
              <a:t>práctica </a:t>
            </a:r>
            <a:r>
              <a:rPr lang="es-ES" sz="4400" dirty="0"/>
              <a:t>especializados en el </a:t>
            </a:r>
            <a:r>
              <a:rPr lang="es-ES" sz="4400" dirty="0" smtClean="0"/>
              <a:t>país </a:t>
            </a:r>
            <a:r>
              <a:rPr lang="es-ES" sz="4400" dirty="0"/>
              <a:t>obliga a que gran parte del aprendizaje </a:t>
            </a:r>
            <a:r>
              <a:rPr lang="es-ES" sz="4400" dirty="0" smtClean="0"/>
              <a:t>de procedimientos endoscópicos </a:t>
            </a:r>
            <a:r>
              <a:rPr lang="es-ES" sz="4400" dirty="0"/>
              <a:t>se realice directamente sobre pacientes </a:t>
            </a:r>
            <a:r>
              <a:rPr lang="es-ES" sz="4400" dirty="0" smtClean="0"/>
              <a:t>reales.</a:t>
            </a:r>
            <a:endParaRPr sz="44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07436" y="7952910"/>
            <a:ext cx="9164033" cy="35960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Planteamiento</a:t>
            </a:r>
            <a:r>
              <a:rPr lang="en-US" sz="8000" dirty="0"/>
              <a:t> del </a:t>
            </a:r>
            <a:r>
              <a:rPr lang="en-US" sz="8000" dirty="0" err="1"/>
              <a:t>P</a:t>
            </a:r>
            <a:r>
              <a:rPr lang="en-US" sz="8000" dirty="0" err="1" smtClean="0"/>
              <a:t>roblema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403168" y="2834229"/>
            <a:ext cx="10956494" cy="129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70000" lnSpcReduction="2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Simuladores comerciales de alta fidelidad (GI Mentor</a:t>
            </a:r>
            <a:r>
              <a:rPr lang="es-ES" sz="4400" dirty="0" smtClean="0"/>
              <a:t>) muy realistas, </a:t>
            </a:r>
            <a:r>
              <a:rPr lang="es-ES" sz="4400" dirty="0"/>
              <a:t>pero con costos prohibitivos (&gt;USD 60,000</a:t>
            </a:r>
            <a:r>
              <a:rPr lang="es-ES" sz="4400" dirty="0" smtClean="0"/>
              <a:t>).</a:t>
            </a:r>
            <a:endParaRPr sz="44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2" name="Google Shape;98;p2"/>
          <p:cNvSpPr txBox="1">
            <a:spLocks noGrp="1"/>
          </p:cNvSpPr>
          <p:nvPr>
            <p:ph type="body" idx="2"/>
          </p:nvPr>
        </p:nvSpPr>
        <p:spPr>
          <a:xfrm>
            <a:off x="12148948" y="2834229"/>
            <a:ext cx="10956494" cy="1297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77500" lnSpcReduction="2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400" dirty="0"/>
              <a:t>Soluciones locales de simulación médica — acceso más </a:t>
            </a:r>
            <a:r>
              <a:rPr lang="es-ES" sz="4400" dirty="0" smtClean="0"/>
              <a:t>amplio, </a:t>
            </a:r>
            <a:r>
              <a:rPr lang="es-ES" sz="4400" dirty="0"/>
              <a:t>pero con limitaciones técnicas.</a:t>
            </a:r>
            <a:endParaRPr sz="44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37991" y="4567667"/>
            <a:ext cx="4286848" cy="5734850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67660" y="4567667"/>
            <a:ext cx="7919069" cy="5266181"/>
          </a:xfrm>
          <a:prstGeom prst="rect">
            <a:avLst/>
          </a:prstGeom>
        </p:spPr>
      </p:pic>
      <p:sp>
        <p:nvSpPr>
          <p:cNvPr id="6" name="Rectángulo 5"/>
          <p:cNvSpPr/>
          <p:nvPr/>
        </p:nvSpPr>
        <p:spPr>
          <a:xfrm>
            <a:off x="13663936" y="9840852"/>
            <a:ext cx="8340657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400" i="1" dirty="0">
                <a:latin typeface="-apple-system"/>
              </a:rPr>
              <a:t>Capacitación en el Centro de </a:t>
            </a:r>
            <a:r>
              <a:rPr lang="es-ES" sz="2400" i="1" dirty="0" smtClean="0">
                <a:latin typeface="-apple-system"/>
              </a:rPr>
              <a:t>Capacitación WGO </a:t>
            </a:r>
            <a:r>
              <a:rPr lang="es-ES" sz="2400" i="1" dirty="0">
                <a:latin typeface="-apple-system"/>
              </a:rPr>
              <a:t>La Paz.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1437019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 smtClean="0"/>
              <a:t>Objetivo</a:t>
            </a:r>
            <a:r>
              <a:rPr lang="en-US" sz="8000" dirty="0" smtClean="0"/>
              <a:t> </a:t>
            </a:r>
            <a:r>
              <a:rPr lang="en-US" sz="8000" dirty="0" smtClean="0"/>
              <a:t>General</a:t>
            </a:r>
            <a:endParaRPr dirty="0"/>
          </a:p>
        </p:txBody>
      </p:sp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499317"/>
            <a:ext cx="23255132" cy="6135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6000" dirty="0"/>
              <a:t>Diseñar un simulador de resección de pólipos intestinales de bajo costo, con integración físico–virtual, con la finalidad de apoyar la práctica y entrenamiento en endoscopia terapéutica en entornos académicos con recursos limitados, permitiendo evaluar precisión, tiempo de respuesta y seguridad durante la práctica endoscópica simulada.</a:t>
            </a:r>
            <a:endParaRPr sz="6000"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182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Estado del Arte y Ventaja Competitiva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graphicFrame>
        <p:nvGraphicFramePr>
          <p:cNvPr id="4" name="Tabla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5149324"/>
              </p:ext>
            </p:extLst>
          </p:nvPr>
        </p:nvGraphicFramePr>
        <p:xfrm>
          <a:off x="4061453" y="4389363"/>
          <a:ext cx="16256000" cy="570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0">
                  <a:extLst>
                    <a:ext uri="{9D8B030D-6E8A-4147-A177-3AD203B41FA5}">
                      <a16:colId xmlns:a16="http://schemas.microsoft.com/office/drawing/2014/main" val="1162694405"/>
                    </a:ext>
                  </a:extLst>
                </a:gridCol>
              </a:tblGrid>
              <a:tr h="1901792">
                <a:tc>
                  <a:txBody>
                    <a:bodyPr/>
                    <a:lstStyle/>
                    <a:p>
                      <a:r>
                        <a:rPr lang="es-ES" sz="4000" b="0" i="1" dirty="0" smtClean="0">
                          <a:solidFill>
                            <a:schemeClr val="bg2"/>
                          </a:solidFill>
                        </a:rPr>
                        <a:t>Simuladores Comerciales (ej. GI Mentor):</a:t>
                      </a:r>
                      <a:r>
                        <a:rPr lang="es-ES" sz="4000" b="0" dirty="0" smtClean="0">
                          <a:solidFill>
                            <a:schemeClr val="bg2"/>
                          </a:solidFill>
                        </a:rPr>
                        <a:t> Alta fidelidad, pero cerrados y con costo &gt; $60,000 USD.</a:t>
                      </a:r>
                      <a:endParaRPr lang="en-US" sz="4000" b="0" dirty="0">
                        <a:solidFill>
                          <a:schemeClr val="bg2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782769"/>
                  </a:ext>
                </a:extLst>
              </a:tr>
              <a:tr h="1901792">
                <a:tc>
                  <a:txBody>
                    <a:bodyPr/>
                    <a:lstStyle/>
                    <a:p>
                      <a:r>
                        <a:rPr lang="es-ES" sz="4000" i="1" dirty="0" smtClean="0"/>
                        <a:t>Prototipos Académicos Actuales:</a:t>
                      </a:r>
                      <a:r>
                        <a:rPr lang="es-ES" sz="4000" dirty="0" smtClean="0"/>
                        <a:t> Bajo costo, pero sufren de alta latencia, desgaste mecánico,</a:t>
                      </a:r>
                      <a:r>
                        <a:rPr lang="es-ES" sz="4000" baseline="0" dirty="0" smtClean="0"/>
                        <a:t> </a:t>
                      </a:r>
                      <a:r>
                        <a:rPr lang="es-ES" sz="4000" dirty="0" smtClean="0"/>
                        <a:t>ruido </a:t>
                      </a:r>
                      <a:r>
                        <a:rPr lang="es-ES" sz="4000" dirty="0" smtClean="0"/>
                        <a:t>mecánico </a:t>
                      </a:r>
                      <a:r>
                        <a:rPr lang="es-ES" sz="4000" dirty="0" smtClean="0"/>
                        <a:t>y poca fidelidad</a:t>
                      </a:r>
                      <a:r>
                        <a:rPr lang="es-ES" sz="4000" baseline="0" dirty="0" smtClean="0"/>
                        <a:t> </a:t>
                      </a:r>
                      <a:r>
                        <a:rPr lang="es-ES" sz="4000" baseline="0" dirty="0" smtClean="0"/>
                        <a:t>práctica</a:t>
                      </a:r>
                      <a:r>
                        <a:rPr lang="es-ES" sz="4000" dirty="0" smtClean="0"/>
                        <a:t>.</a:t>
                      </a:r>
                      <a:endParaRPr lang="en-US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3231649"/>
                  </a:ext>
                </a:extLst>
              </a:tr>
              <a:tr h="1901792">
                <a:tc>
                  <a:txBody>
                    <a:bodyPr/>
                    <a:lstStyle/>
                    <a:p>
                      <a:r>
                        <a:rPr lang="es-ES" sz="4000" i="1" dirty="0" smtClean="0"/>
                        <a:t>Nuestra Propuesta:</a:t>
                      </a:r>
                      <a:r>
                        <a:rPr lang="es-ES" sz="4000" i="1" baseline="0" dirty="0" smtClean="0"/>
                        <a:t> </a:t>
                      </a:r>
                      <a:r>
                        <a:rPr lang="es-ES" sz="4000" dirty="0" smtClean="0"/>
                        <a:t>Bajo </a:t>
                      </a:r>
                      <a:r>
                        <a:rPr lang="es-ES" sz="4000" dirty="0" smtClean="0"/>
                        <a:t>costo, latencia </a:t>
                      </a:r>
                      <a:r>
                        <a:rPr lang="es-ES" sz="4000" dirty="0" smtClean="0"/>
                        <a:t>asíncrona imperceptible, con</a:t>
                      </a:r>
                      <a:r>
                        <a:rPr lang="es-ES" sz="4000" baseline="0" dirty="0" smtClean="0"/>
                        <a:t> eliminación de ruidos, retroalimentación </a:t>
                      </a:r>
                      <a:r>
                        <a:rPr lang="es-ES" sz="4000" baseline="0" dirty="0" smtClean="0"/>
                        <a:t>práctica</a:t>
                      </a:r>
                      <a:r>
                        <a:rPr lang="es-ES" sz="4000" baseline="0" dirty="0" smtClean="0"/>
                        <a:t>. </a:t>
                      </a:r>
                      <a:endParaRPr lang="en-US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380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1171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9562" y="2263533"/>
            <a:ext cx="18045754" cy="9223921"/>
          </a:xfrm>
          <a:prstGeom prst="rect">
            <a:avLst/>
          </a:prstGeom>
        </p:spPr>
      </p:pic>
      <p:sp>
        <p:nvSpPr>
          <p:cNvPr id="98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1" y="3499317"/>
            <a:ext cx="9999701" cy="7760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Interfaz</a:t>
            </a:r>
            <a:r>
              <a:rPr lang="en-US" sz="4000" dirty="0"/>
              <a:t> </a:t>
            </a:r>
            <a:r>
              <a:rPr lang="en-US" sz="4000" dirty="0" err="1"/>
              <a:t>Física</a:t>
            </a:r>
            <a:r>
              <a:rPr lang="en-US" sz="4000" dirty="0"/>
              <a:t> </a:t>
            </a:r>
            <a:endParaRPr lang="en-U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/>
              <a:t>Sistema </a:t>
            </a:r>
            <a:r>
              <a:rPr lang="en-US" sz="4000" dirty="0" err="1"/>
              <a:t>Embebido</a:t>
            </a:r>
            <a:r>
              <a:rPr lang="en-US" sz="4000" dirty="0"/>
              <a:t> </a:t>
            </a:r>
            <a:endParaRPr lang="en-U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 smtClean="0"/>
              <a:t>Entorno</a:t>
            </a:r>
            <a:r>
              <a:rPr lang="en-US" sz="4000" dirty="0" smtClean="0"/>
              <a:t> </a:t>
            </a:r>
            <a:r>
              <a:rPr lang="en-US" sz="4000" dirty="0"/>
              <a:t>Virtual </a:t>
            </a:r>
            <a:r>
              <a:rPr lang="en-US" sz="4000" dirty="0" smtClean="0"/>
              <a:t>(Unity).</a:t>
            </a:r>
            <a:endParaRPr sz="4000" dirty="0"/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Arquitectura</a:t>
            </a:r>
            <a:r>
              <a:rPr lang="en-US" sz="8000" dirty="0"/>
              <a:t> </a:t>
            </a:r>
            <a:r>
              <a:rPr lang="en-US" sz="8000" dirty="0" err="1"/>
              <a:t>Híbrida</a:t>
            </a:r>
            <a:r>
              <a:rPr lang="en-US" sz="8000" dirty="0"/>
              <a:t> </a:t>
            </a:r>
            <a:r>
              <a:rPr lang="en-US" sz="8000" dirty="0" err="1"/>
              <a:t>Físico</a:t>
            </a:r>
            <a:r>
              <a:rPr lang="en-US" sz="8000" dirty="0"/>
              <a:t>-Virtual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45854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Arquitectura</a:t>
            </a:r>
            <a:r>
              <a:rPr lang="en-US" sz="8000" dirty="0"/>
              <a:t> </a:t>
            </a:r>
            <a:r>
              <a:rPr lang="en-US" sz="8000" dirty="0" err="1"/>
              <a:t>Electrónica</a:t>
            </a:r>
            <a:r>
              <a:rPr lang="en-US" sz="8000" dirty="0"/>
              <a:t> </a:t>
            </a:r>
            <a:r>
              <a:rPr lang="en-US" sz="8000" dirty="0" err="1"/>
              <a:t>Embebida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830" y="3248226"/>
            <a:ext cx="10800772" cy="684534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0975" y="3205997"/>
            <a:ext cx="12187883" cy="6808992"/>
          </a:xfrm>
          <a:prstGeom prst="rect">
            <a:avLst/>
          </a:prstGeom>
        </p:spPr>
      </p:pic>
      <p:sp>
        <p:nvSpPr>
          <p:cNvPr id="2" name="Rectángulo 1"/>
          <p:cNvSpPr/>
          <p:nvPr/>
        </p:nvSpPr>
        <p:spPr>
          <a:xfrm>
            <a:off x="659388" y="11600326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1. Diseño de circuito electrónico con error de lectura comprobado menor al 5%.</a:t>
            </a:r>
          </a:p>
        </p:txBody>
      </p:sp>
    </p:spTree>
    <p:extLst>
      <p:ext uri="{BB962C8B-B14F-4D97-AF65-F5344CB8AC3E}">
        <p14:creationId xmlns:p14="http://schemas.microsoft.com/office/powerpoint/2010/main" val="35443478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Sensado</a:t>
            </a:r>
            <a:r>
              <a:rPr lang="en-US" sz="8000" dirty="0"/>
              <a:t> </a:t>
            </a:r>
            <a:r>
              <a:rPr lang="en-US" sz="8000" dirty="0" err="1"/>
              <a:t>Magnético</a:t>
            </a:r>
            <a:r>
              <a:rPr lang="en-US" sz="8000" dirty="0"/>
              <a:t> de </a:t>
            </a:r>
            <a:r>
              <a:rPr lang="en-US" sz="8000" dirty="0" err="1"/>
              <a:t>Efecto</a:t>
            </a:r>
            <a:r>
              <a:rPr lang="en-US" sz="8000" dirty="0"/>
              <a:t> Hall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6599"/>
            <a:ext cx="16857701" cy="2151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Sustitución de potenciómetros para eliminar fricción y ruido mecánico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Sensores </a:t>
            </a:r>
            <a:r>
              <a:rPr lang="es-ES" sz="4000" dirty="0"/>
              <a:t>AS5600 con protocolo de comunicación I2C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Resolución </a:t>
            </a:r>
            <a:r>
              <a:rPr lang="es-ES" sz="4000" dirty="0"/>
              <a:t>digital de 12 bits (4096 posiciones por revolución).</a:t>
            </a:r>
            <a:endParaRPr lang="es-ES" sz="4000" dirty="0" smtClean="0"/>
          </a:p>
        </p:txBody>
      </p:sp>
      <p:pic>
        <p:nvPicPr>
          <p:cNvPr id="10" name="Imagen 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9669" y="4854728"/>
            <a:ext cx="11979812" cy="7117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8368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729205" y="11395271"/>
            <a:ext cx="553196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Filtrado</a:t>
            </a:r>
            <a:r>
              <a:rPr lang="en-US" sz="8000" dirty="0"/>
              <a:t> </a:t>
            </a:r>
            <a:r>
              <a:rPr lang="en-US" sz="8000" dirty="0" err="1"/>
              <a:t>Analógico</a:t>
            </a:r>
            <a:r>
              <a:rPr lang="en-US" sz="8000" dirty="0"/>
              <a:t> y Digital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116686"/>
            <a:ext cx="23054478" cy="3840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Filtro pasivo RC por hardware (</a:t>
            </a:r>
            <a:r>
              <a:rPr lang="es-ES" sz="4000" dirty="0" err="1"/>
              <a:t>fc</a:t>
            </a:r>
            <a:r>
              <a:rPr lang="es-ES" sz="4000" dirty="0"/>
              <a:t> ≈ 159 Hz) para absorción de transitorios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Algoritmo digital (Firmware): Máquina de estados de 16 posiciones mediante interrupciones (EXTI) y </a:t>
            </a:r>
            <a:r>
              <a:rPr lang="es-ES" sz="4000" dirty="0" err="1"/>
              <a:t>Debounce</a:t>
            </a:r>
            <a:r>
              <a:rPr lang="es-ES" sz="4000" dirty="0"/>
              <a:t> de 10 </a:t>
            </a:r>
            <a:r>
              <a:rPr lang="es-ES" sz="4000" dirty="0" smtClean="0"/>
              <a:t>ms.</a:t>
            </a: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Seguro contra congelamiento en los motores vibradores (apagado automático después de 1000 ms</a:t>
            </a:r>
            <a:r>
              <a:rPr lang="es-ES" sz="4000" dirty="0" smtClean="0"/>
              <a:t>).</a:t>
            </a:r>
            <a:endParaRPr lang="es-ES" sz="4000" dirty="0" smtClean="0"/>
          </a:p>
        </p:txBody>
      </p:sp>
      <p:pic>
        <p:nvPicPr>
          <p:cNvPr id="6" name="Imagen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37155" y="6601576"/>
            <a:ext cx="14184840" cy="4545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8603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282031" y="11395271"/>
            <a:ext cx="1000370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Diseño Mecánico y Tren Cinemático</a:t>
            </a:r>
            <a:endParaRPr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601" r="7960"/>
          <a:stretch/>
        </p:blipFill>
        <p:spPr>
          <a:xfrm>
            <a:off x="17908131" y="3232001"/>
            <a:ext cx="5750169" cy="820077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9682" y="3230270"/>
            <a:ext cx="8604715" cy="8161067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3822" y="6098561"/>
            <a:ext cx="6576646" cy="5614210"/>
          </a:xfrm>
          <a:prstGeom prst="rect">
            <a:avLst/>
          </a:prstGeom>
        </p:spPr>
      </p:pic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370133"/>
            <a:ext cx="6576646" cy="1685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Manufactura en FDM (Ácido </a:t>
            </a:r>
            <a:r>
              <a:rPr lang="es-ES" sz="4000" dirty="0" err="1"/>
              <a:t>Poliláctico</a:t>
            </a:r>
            <a:r>
              <a:rPr lang="es-ES" sz="4000" dirty="0"/>
              <a:t> </a:t>
            </a:r>
            <a:r>
              <a:rPr lang="es-ES" sz="4000" dirty="0" smtClean="0"/>
              <a:t>– </a:t>
            </a:r>
            <a:r>
              <a:rPr lang="es-ES" sz="4000" dirty="0" smtClean="0"/>
              <a:t>PLA)</a:t>
            </a:r>
            <a:endParaRPr lang="es-ES" sz="4000" dirty="0" smtClean="0"/>
          </a:p>
        </p:txBody>
      </p:sp>
      <p:sp>
        <p:nvSpPr>
          <p:cNvPr id="18" name="Rectángulo 17"/>
          <p:cNvSpPr/>
          <p:nvPr/>
        </p:nvSpPr>
        <p:spPr>
          <a:xfrm>
            <a:off x="659388" y="11600326"/>
            <a:ext cx="1592290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3 -  Fabricar los elementos </a:t>
            </a:r>
            <a:r>
              <a:rPr lang="es-ES" sz="2000" dirty="0" smtClean="0"/>
              <a:t>físicos </a:t>
            </a:r>
            <a:r>
              <a:rPr lang="es-ES" sz="2000" dirty="0"/>
              <a:t>de </a:t>
            </a:r>
            <a:r>
              <a:rPr lang="es-ES" sz="2000" dirty="0" smtClean="0"/>
              <a:t>interacción.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71643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1275" y="4029074"/>
            <a:ext cx="9401545" cy="8355743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5016" y="4458554"/>
            <a:ext cx="7904939" cy="7496781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282031" y="11395271"/>
            <a:ext cx="1000370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Cinemática</a:t>
            </a:r>
            <a:r>
              <a:rPr lang="en-US" sz="8000" dirty="0"/>
              <a:t> de </a:t>
            </a:r>
            <a:r>
              <a:rPr lang="en-US" sz="8000" dirty="0" err="1"/>
              <a:t>Inserción</a:t>
            </a:r>
            <a:r>
              <a:rPr lang="en-US" sz="8000" dirty="0"/>
              <a:t> Longitudinal</a:t>
            </a:r>
            <a:endParaRPr dirty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6599"/>
            <a:ext cx="21711055" cy="21514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Captura de </a:t>
            </a:r>
            <a:r>
              <a:rPr lang="es-ES" sz="4000" dirty="0" smtClean="0"/>
              <a:t>desplazamiento: </a:t>
            </a:r>
            <a:r>
              <a:rPr lang="es-ES" sz="4000" dirty="0"/>
              <a:t>mecanismo </a:t>
            </a:r>
            <a:r>
              <a:rPr lang="es-ES" sz="4000" dirty="0" smtClean="0"/>
              <a:t>basado </a:t>
            </a:r>
            <a:r>
              <a:rPr lang="es-ES" sz="4000" dirty="0"/>
              <a:t>en fricción estática (rueda de goma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err="1" smtClean="0"/>
              <a:t>Encoder</a:t>
            </a:r>
            <a:r>
              <a:rPr lang="es-ES" sz="4000" dirty="0" smtClean="0"/>
              <a:t> </a:t>
            </a:r>
            <a:r>
              <a:rPr lang="es-ES" sz="4000" dirty="0"/>
              <a:t>rotativo KY-040 gestionado por interrupciones (EXTI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Diseño </a:t>
            </a:r>
            <a:r>
              <a:rPr lang="es-ES" sz="4000" dirty="0"/>
              <a:t>modular para </a:t>
            </a:r>
            <a:r>
              <a:rPr lang="es-ES" sz="4000" dirty="0" smtClean="0"/>
              <a:t>ajustes o mejoras, alta escalabilidad.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3947966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7021" y="1776326"/>
            <a:ext cx="18632544" cy="10480807"/>
          </a:xfrm>
          <a:prstGeom prst="rect">
            <a:avLst/>
          </a:prstGeom>
        </p:spPr>
      </p:pic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 dirty="0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71"/>
            <a:ext cx="6541500" cy="5642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521460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Sincronización y Telemetría 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578949" y="11395271"/>
            <a:ext cx="703452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5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3" y="3116686"/>
            <a:ext cx="5498040" cy="827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Lectura</a:t>
            </a:r>
            <a:r>
              <a:rPr lang="en-US" sz="4000" dirty="0"/>
              <a:t> serial </a:t>
            </a:r>
            <a:r>
              <a:rPr lang="en-US" sz="4000" dirty="0" err="1"/>
              <a:t>asíncrona</a:t>
            </a:r>
            <a:r>
              <a:rPr lang="en-US" sz="4000" dirty="0"/>
              <a:t> </a:t>
            </a:r>
            <a:r>
              <a:rPr lang="en-US" sz="4000" dirty="0" err="1"/>
              <a:t>mediante</a:t>
            </a:r>
            <a:r>
              <a:rPr lang="en-US" sz="4000" dirty="0"/>
              <a:t> </a:t>
            </a:r>
            <a:r>
              <a:rPr lang="en-US" sz="4000" dirty="0" err="1"/>
              <a:t>hilos</a:t>
            </a:r>
            <a:r>
              <a:rPr lang="en-US" sz="4000" dirty="0"/>
              <a:t> </a:t>
            </a:r>
            <a:r>
              <a:rPr lang="en-US" sz="4000" dirty="0" err="1"/>
              <a:t>en</a:t>
            </a:r>
            <a:r>
              <a:rPr lang="en-US" sz="4000" dirty="0"/>
              <a:t> </a:t>
            </a:r>
            <a:r>
              <a:rPr lang="en-US" sz="4000" dirty="0" err="1"/>
              <a:t>segundo</a:t>
            </a:r>
            <a:r>
              <a:rPr lang="en-US" sz="4000" dirty="0"/>
              <a:t> </a:t>
            </a:r>
            <a:r>
              <a:rPr lang="en-US" sz="4000" dirty="0" err="1" smtClean="0"/>
              <a:t>plano</a:t>
            </a:r>
            <a:r>
              <a:rPr lang="en-U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n-US" sz="4000" dirty="0" err="1"/>
              <a:t>Uso</a:t>
            </a:r>
            <a:r>
              <a:rPr lang="en-US" sz="4000" dirty="0"/>
              <a:t> de colas </a:t>
            </a:r>
            <a:r>
              <a:rPr lang="en-US" sz="4000" dirty="0" err="1"/>
              <a:t>concurrentes</a:t>
            </a:r>
            <a:r>
              <a:rPr lang="en-US" sz="4000" dirty="0"/>
              <a:t> (</a:t>
            </a:r>
            <a:r>
              <a:rPr lang="en-US" sz="4000" i="1" dirty="0"/>
              <a:t>Thread-Safe</a:t>
            </a:r>
            <a:r>
              <a:rPr lang="en-US" sz="4000" dirty="0"/>
              <a:t>) para </a:t>
            </a:r>
            <a:r>
              <a:rPr lang="en-US" sz="4000" dirty="0" err="1"/>
              <a:t>evitar</a:t>
            </a:r>
            <a:r>
              <a:rPr lang="en-US" sz="4000" dirty="0"/>
              <a:t> </a:t>
            </a:r>
            <a:r>
              <a:rPr lang="en-US" sz="4000" dirty="0" err="1"/>
              <a:t>colisiones</a:t>
            </a:r>
            <a:r>
              <a:rPr lang="en-US" sz="4000" dirty="0"/>
              <a:t> de </a:t>
            </a:r>
            <a:r>
              <a:rPr lang="en-US" sz="4000" dirty="0" err="1" smtClean="0"/>
              <a:t>memoria</a:t>
            </a:r>
            <a:r>
              <a:rPr lang="en-US" sz="4000" dirty="0"/>
              <a:t>.</a:t>
            </a:r>
            <a:endParaRPr lang="es-ES" sz="4000" dirty="0" smtClean="0"/>
          </a:p>
        </p:txBody>
      </p:sp>
      <p:sp>
        <p:nvSpPr>
          <p:cNvPr id="16" name="Google Shape;98;p2"/>
          <p:cNvSpPr txBox="1">
            <a:spLocks noGrp="1"/>
          </p:cNvSpPr>
          <p:nvPr>
            <p:ph type="body" idx="2"/>
          </p:nvPr>
        </p:nvSpPr>
        <p:spPr>
          <a:xfrm>
            <a:off x="17957276" y="3116685"/>
            <a:ext cx="5498040" cy="82746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Patrón de diseño </a:t>
            </a:r>
            <a:r>
              <a:rPr lang="es-ES" sz="4000" i="1" dirty="0" err="1"/>
              <a:t>Observer</a:t>
            </a:r>
            <a:r>
              <a:rPr lang="es-ES" sz="4000" dirty="0"/>
              <a:t> para normalización de datos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/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Protocolo </a:t>
            </a:r>
            <a:r>
              <a:rPr lang="es-ES" sz="4000" dirty="0"/>
              <a:t>de </a:t>
            </a:r>
            <a:r>
              <a:rPr lang="es-ES" sz="4000" dirty="0" err="1"/>
              <a:t>Handshake</a:t>
            </a:r>
            <a:r>
              <a:rPr lang="es-ES" sz="4000" dirty="0"/>
              <a:t> donde </a:t>
            </a:r>
            <a:r>
              <a:rPr lang="es-ES" sz="4000" dirty="0" err="1"/>
              <a:t>Unity</a:t>
            </a:r>
            <a:r>
              <a:rPr lang="es-ES" sz="4000" dirty="0"/>
              <a:t> busca la firma ID: </a:t>
            </a:r>
            <a:r>
              <a:rPr lang="es-ES" sz="4000" dirty="0" smtClean="0"/>
              <a:t>ENDOSCOPIO_V1. </a:t>
            </a:r>
            <a:endParaRPr lang="es-ES" sz="4000" dirty="0"/>
          </a:p>
        </p:txBody>
      </p:sp>
      <p:sp>
        <p:nvSpPr>
          <p:cNvPr id="17" name="Rectángulo 16"/>
          <p:cNvSpPr/>
          <p:nvPr/>
        </p:nvSpPr>
        <p:spPr>
          <a:xfrm>
            <a:off x="431628" y="11800381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2 - </a:t>
            </a:r>
            <a:r>
              <a:rPr lang="es-ES" sz="2000" dirty="0" smtClean="0"/>
              <a:t>Interconexión.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26541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Cinemática</a:t>
            </a:r>
            <a:r>
              <a:rPr lang="en-US" sz="8000" dirty="0"/>
              <a:t> Virtual (</a:t>
            </a:r>
            <a:r>
              <a:rPr lang="en-US" sz="8000" dirty="0" err="1"/>
              <a:t>Interpolación</a:t>
            </a:r>
            <a:r>
              <a:rPr lang="en-US" sz="8000" dirty="0"/>
              <a:t> </a:t>
            </a:r>
            <a:r>
              <a:rPr lang="en-US" sz="8000" dirty="0" err="1"/>
              <a:t>Slerp</a:t>
            </a:r>
            <a:r>
              <a:rPr lang="en-US" sz="8000" dirty="0"/>
              <a:t>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 dirty="0"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6621" y="4629889"/>
            <a:ext cx="9290538" cy="6761448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2234" y="4629890"/>
            <a:ext cx="12198974" cy="6761447"/>
          </a:xfrm>
          <a:prstGeom prst="rect">
            <a:avLst/>
          </a:prstGeom>
        </p:spPr>
      </p:pic>
      <p:sp>
        <p:nvSpPr>
          <p:cNvPr id="12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45283"/>
            <a:ext cx="22517386" cy="1859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indent="-635000">
              <a:spcBef>
                <a:spcPts val="0"/>
              </a:spcBef>
              <a:buSzPts val="5040"/>
            </a:pPr>
            <a:r>
              <a:rPr lang="es-ES" sz="4000" dirty="0"/>
              <a:t>Algoritmo de propagación de curvas mediante </a:t>
            </a:r>
            <a:r>
              <a:rPr lang="en-US" sz="4000" dirty="0" err="1"/>
              <a:t>interpolación</a:t>
            </a:r>
            <a:r>
              <a:rPr lang="en-US" sz="4000" dirty="0"/>
              <a:t> lineal </a:t>
            </a:r>
            <a:r>
              <a:rPr lang="en-US" sz="4000" dirty="0" err="1" smtClean="0"/>
              <a:t>esférica</a:t>
            </a:r>
            <a:r>
              <a:rPr lang="en-US" sz="4000" dirty="0" smtClean="0"/>
              <a:t> </a:t>
            </a:r>
            <a:r>
              <a:rPr lang="es-ES" sz="4000" dirty="0" smtClean="0"/>
              <a:t>(</a:t>
            </a:r>
            <a:r>
              <a:rPr lang="es-ES" sz="4000" dirty="0" err="1" smtClean="0"/>
              <a:t>Quaternion.Slerp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Monitoreo </a:t>
            </a:r>
            <a:r>
              <a:rPr lang="es-ES" sz="4000" dirty="0"/>
              <a:t>constante de estrés tisular (detección de bucles &gt; 140</a:t>
            </a:r>
            <a:r>
              <a:rPr lang="es-ES" sz="4000" dirty="0" smtClean="0"/>
              <a:t>°).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Escudo </a:t>
            </a:r>
            <a:r>
              <a:rPr lang="es-ES" sz="4000" dirty="0"/>
              <a:t>"Anti-Lag" para evitar movimientos bruscos causados por hardware.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29789942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Generación Procedural y Clasificación de </a:t>
            </a:r>
            <a:r>
              <a:rPr lang="es-ES" sz="8000" dirty="0" err="1"/>
              <a:t>Yamada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34102" y="2764836"/>
            <a:ext cx="10018918" cy="363350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68827" y="6622132"/>
            <a:ext cx="14349469" cy="4843405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8" y="2929123"/>
            <a:ext cx="8325082" cy="58234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Instanciación </a:t>
            </a:r>
            <a:r>
              <a:rPr lang="es-ES" sz="4000" dirty="0"/>
              <a:t>aleatoria utilizando física de rayos (</a:t>
            </a:r>
            <a:r>
              <a:rPr lang="es-ES" sz="4000" dirty="0" err="1"/>
              <a:t>Raycast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Alineación </a:t>
            </a:r>
            <a:r>
              <a:rPr lang="es-ES" sz="4000" dirty="0"/>
              <a:t>geométrica basada en las normales de la pared intestinal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Variación </a:t>
            </a:r>
            <a:r>
              <a:rPr lang="es-ES" sz="4000" dirty="0"/>
              <a:t>paramétrica visual (lesiones de 2 mm a 9 mm).</a:t>
            </a:r>
            <a:endParaRPr lang="es-ES" sz="4000" dirty="0" smtClean="0"/>
          </a:p>
        </p:txBody>
      </p:sp>
      <p:sp>
        <p:nvSpPr>
          <p:cNvPr id="17" name="Rectángulo 16"/>
          <p:cNvSpPr/>
          <p:nvPr/>
        </p:nvSpPr>
        <p:spPr>
          <a:xfrm>
            <a:off x="718948" y="9756071"/>
            <a:ext cx="790353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4 - Entorno virtual paramétrico capaz de </a:t>
            </a:r>
            <a:r>
              <a:rPr lang="es-ES" sz="2000" dirty="0" err="1"/>
              <a:t>renderizar</a:t>
            </a:r>
            <a:r>
              <a:rPr lang="es-ES" sz="2000" dirty="0"/>
              <a:t> y evaluar lesiones de 2 mm a 9 </a:t>
            </a:r>
            <a:r>
              <a:rPr lang="es-ES" sz="2000" dirty="0" err="1" smtClean="0"/>
              <a:t>mm.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797791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Máquina</a:t>
            </a:r>
            <a:r>
              <a:rPr lang="en-US" sz="8000" dirty="0"/>
              <a:t> de </a:t>
            </a:r>
            <a:r>
              <a:rPr lang="en-US" sz="8000" dirty="0" err="1"/>
              <a:t>Estados</a:t>
            </a:r>
            <a:r>
              <a:rPr lang="en-US" sz="8000" dirty="0"/>
              <a:t> </a:t>
            </a:r>
            <a:r>
              <a:rPr lang="en-US" sz="8000" dirty="0" err="1"/>
              <a:t>Finita</a:t>
            </a:r>
            <a:r>
              <a:rPr lang="en-US" sz="8000" dirty="0"/>
              <a:t> </a:t>
            </a:r>
            <a:r>
              <a:rPr lang="en-US" sz="8000" dirty="0" err="1"/>
              <a:t>Quirúrgica</a:t>
            </a:r>
            <a:r>
              <a:rPr lang="en-US" sz="8000" dirty="0"/>
              <a:t> (FSM)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15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972366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Restricción de herramientas según tamaño de lesión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Uso </a:t>
            </a:r>
            <a:r>
              <a:rPr lang="es-ES" sz="4000" dirty="0"/>
              <a:t>obligatorio de Pinza Fría para patologías ≤ 5 </a:t>
            </a:r>
            <a:r>
              <a:rPr lang="es-ES" sz="4000" dirty="0" err="1"/>
              <a:t>mm</a:t>
            </a:r>
            <a:r>
              <a:rPr lang="es-ES" sz="4000" dirty="0" err="1" smtClean="0"/>
              <a:t>.</a:t>
            </a: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Activación </a:t>
            </a:r>
            <a:r>
              <a:rPr lang="es-ES" sz="4000" dirty="0"/>
              <a:t>de Asa Diatérmica (electrocauterio) para lesiones mayores.</a:t>
            </a:r>
            <a:endParaRPr lang="es-ES" sz="4000" dirty="0" smtClean="0"/>
          </a:p>
        </p:txBody>
      </p:sp>
      <p:sp>
        <p:nvSpPr>
          <p:cNvPr id="8" name="Rectángulo 7"/>
          <p:cNvSpPr/>
          <p:nvPr/>
        </p:nvSpPr>
        <p:spPr>
          <a:xfrm>
            <a:off x="3604846" y="7051431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>
                <a:solidFill>
                  <a:schemeClr val="bg2"/>
                </a:solidFill>
              </a:rPr>
              <a:t>Intacto </a:t>
            </a:r>
          </a:p>
        </p:txBody>
      </p:sp>
      <p:sp>
        <p:nvSpPr>
          <p:cNvPr id="16" name="Rectángulo 15"/>
          <p:cNvSpPr/>
          <p:nvPr/>
        </p:nvSpPr>
        <p:spPr>
          <a:xfrm>
            <a:off x="9702228" y="7051431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bg2"/>
                </a:solidFill>
              </a:rPr>
              <a:t>Cortado</a:t>
            </a:r>
            <a:r>
              <a:rPr lang="en-US" sz="3600" dirty="0">
                <a:solidFill>
                  <a:schemeClr val="bg2"/>
                </a:solidFill>
              </a:rPr>
              <a:t>/</a:t>
            </a:r>
            <a:r>
              <a:rPr lang="en-US" sz="3600" dirty="0" err="1">
                <a:solidFill>
                  <a:schemeClr val="bg2"/>
                </a:solidFill>
              </a:rPr>
              <a:t>Suelto</a:t>
            </a:r>
            <a:r>
              <a:rPr lang="en-US" sz="3600" dirty="0">
                <a:solidFill>
                  <a:schemeClr val="bg2"/>
                </a:solidFill>
              </a:rPr>
              <a:t> </a:t>
            </a:r>
          </a:p>
        </p:txBody>
      </p:sp>
      <p:sp>
        <p:nvSpPr>
          <p:cNvPr id="17" name="Rectángulo 16"/>
          <p:cNvSpPr/>
          <p:nvPr/>
        </p:nvSpPr>
        <p:spPr>
          <a:xfrm>
            <a:off x="15799610" y="7051430"/>
            <a:ext cx="3534508" cy="19694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solidFill>
                  <a:schemeClr val="bg2"/>
                </a:solidFill>
              </a:rPr>
              <a:t>Capturado</a:t>
            </a:r>
            <a:r>
              <a:rPr lang="en-US" sz="3600" dirty="0">
                <a:solidFill>
                  <a:schemeClr val="bg2"/>
                </a:solidFill>
              </a:rPr>
              <a:t> </a:t>
            </a:r>
          </a:p>
        </p:txBody>
      </p:sp>
      <p:cxnSp>
        <p:nvCxnSpPr>
          <p:cNvPr id="10" name="Conector recto de flecha 9"/>
          <p:cNvCxnSpPr>
            <a:stCxn id="8" idx="3"/>
            <a:endCxn id="16" idx="1"/>
          </p:cNvCxnSpPr>
          <p:nvPr/>
        </p:nvCxnSpPr>
        <p:spPr>
          <a:xfrm>
            <a:off x="7139354" y="8036170"/>
            <a:ext cx="25628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recto de flecha 20"/>
          <p:cNvCxnSpPr>
            <a:stCxn id="16" idx="3"/>
            <a:endCxn id="17" idx="1"/>
          </p:cNvCxnSpPr>
          <p:nvPr/>
        </p:nvCxnSpPr>
        <p:spPr>
          <a:xfrm flipV="1">
            <a:off x="13236736" y="8036169"/>
            <a:ext cx="2562874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Rectángulo 23"/>
          <p:cNvSpPr/>
          <p:nvPr/>
        </p:nvSpPr>
        <p:spPr>
          <a:xfrm>
            <a:off x="718948" y="11662415"/>
            <a:ext cx="1054910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6 - Módulo de evaluación algorítmica y retroalimentación reactiva integrado.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10537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Motor de Fluidos y Evaluación Ponderada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16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972366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Simulación de obstrucción visual (lente sucio por roce contra tejidos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Hemorragias </a:t>
            </a:r>
            <a:r>
              <a:rPr lang="es-ES" sz="4000" dirty="0"/>
              <a:t>dinámicas aleatorias con requerimiento de succión en &lt; 5 segundos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Exportación </a:t>
            </a:r>
            <a:r>
              <a:rPr lang="es-ES" sz="4000" dirty="0"/>
              <a:t>de reportes tabulares (CSV) y JSON.</a:t>
            </a:r>
            <a:endParaRPr lang="es-ES" sz="4000" dirty="0" smtClean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47" y="5019518"/>
            <a:ext cx="10998640" cy="6076374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89453" y="5019518"/>
            <a:ext cx="11094194" cy="6204336"/>
          </a:xfrm>
          <a:prstGeom prst="rect">
            <a:avLst/>
          </a:prstGeom>
        </p:spPr>
      </p:pic>
      <p:sp>
        <p:nvSpPr>
          <p:cNvPr id="22" name="Rectángulo 21"/>
          <p:cNvSpPr/>
          <p:nvPr/>
        </p:nvSpPr>
        <p:spPr>
          <a:xfrm>
            <a:off x="718948" y="11662415"/>
            <a:ext cx="1054910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6 - Módulo de evaluación algorítmica y retroalimentación reactiva integrado.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592893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Fiabilidad de </a:t>
            </a:r>
            <a:r>
              <a:rPr lang="es-ES" sz="8000" dirty="0" err="1"/>
              <a:t>Sensado</a:t>
            </a:r>
            <a:r>
              <a:rPr lang="es-ES" sz="8000" dirty="0"/>
              <a:t> y Desviación Angular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17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7" y="2717923"/>
            <a:ext cx="22860001" cy="21763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Margen de error de entradas discretas inferior al 5% requerido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Resolución </a:t>
            </a:r>
            <a:r>
              <a:rPr lang="es-ES" sz="4000" dirty="0"/>
              <a:t>experimental de volantes magnéticos de ~</a:t>
            </a:r>
            <a:r>
              <a:rPr lang="es-ES" sz="4000" dirty="0" smtClean="0"/>
              <a:t>45 </a:t>
            </a:r>
            <a:r>
              <a:rPr lang="es-ES" sz="4000" dirty="0"/>
              <a:t>pulsos por vuelta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Desviación </a:t>
            </a:r>
            <a:r>
              <a:rPr lang="es-ES" sz="4000" dirty="0"/>
              <a:t>angular promedio máxima de 0.18° (tolerancia exigida &lt; 10°).</a:t>
            </a:r>
            <a:endParaRPr lang="es-ES" sz="4000" dirty="0" smtClean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8947" y="5128551"/>
            <a:ext cx="11430001" cy="5711181"/>
          </a:xfrm>
          <a:prstGeom prst="rect">
            <a:avLst/>
          </a:prstGeom>
        </p:spPr>
      </p:pic>
      <p:pic>
        <p:nvPicPr>
          <p:cNvPr id="8" name="Imagen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3661" y="5124140"/>
            <a:ext cx="9664308" cy="5773751"/>
          </a:xfrm>
          <a:prstGeom prst="rect">
            <a:avLst/>
          </a:prstGeom>
        </p:spPr>
      </p:pic>
      <p:sp>
        <p:nvSpPr>
          <p:cNvPr id="17" name="Rectángulo 16"/>
          <p:cNvSpPr/>
          <p:nvPr/>
        </p:nvSpPr>
        <p:spPr>
          <a:xfrm>
            <a:off x="659388" y="11600326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1. Diseño de circuito electrónico con error de lectura comprobado menor al 5%.</a:t>
            </a:r>
            <a:endParaRPr lang="es-ES" sz="2000" dirty="0"/>
          </a:p>
        </p:txBody>
      </p:sp>
      <p:sp>
        <p:nvSpPr>
          <p:cNvPr id="18" name="Rectángulo 17"/>
          <p:cNvSpPr/>
          <p:nvPr/>
        </p:nvSpPr>
        <p:spPr>
          <a:xfrm>
            <a:off x="12773661" y="11600326"/>
            <a:ext cx="10681655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3 - Interfaz física fabricada con desviación angular máxima probada de 0.18°.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06912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s-ES" sz="8000" dirty="0"/>
              <a:t>Tiempos de Latencia y </a:t>
            </a:r>
            <a:r>
              <a:rPr lang="es-ES" sz="8000" dirty="0" err="1"/>
              <a:t>Renderizado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18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718948" y="2717923"/>
            <a:ext cx="11643038" cy="9011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Evaluación de latencia mediante método RTT (Ping-Pong serial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Latencia </a:t>
            </a:r>
            <a:r>
              <a:rPr lang="es-ES" sz="4000" dirty="0"/>
              <a:t>promedio de todo el sistema: 16.04 milisegundos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Tasa </a:t>
            </a:r>
            <a:r>
              <a:rPr lang="es-ES" sz="4000" dirty="0"/>
              <a:t>de refresco estacionaria garantizada de 60 FPS sin saturación del bus.</a:t>
            </a:r>
            <a:endParaRPr lang="es-ES" sz="4000" dirty="0" smtClean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28" r="80394"/>
          <a:stretch/>
        </p:blipFill>
        <p:spPr>
          <a:xfrm>
            <a:off x="17087279" y="1716410"/>
            <a:ext cx="6013279" cy="10262989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7285" y="6541428"/>
            <a:ext cx="8497462" cy="5018969"/>
          </a:xfrm>
          <a:prstGeom prst="rect">
            <a:avLst/>
          </a:prstGeom>
        </p:spPr>
      </p:pic>
      <p:sp>
        <p:nvSpPr>
          <p:cNvPr id="16" name="Rectángulo 15"/>
          <p:cNvSpPr/>
          <p:nvPr/>
        </p:nvSpPr>
        <p:spPr>
          <a:xfrm>
            <a:off x="387533" y="11574401"/>
            <a:ext cx="1583414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2 - </a:t>
            </a:r>
            <a:r>
              <a:rPr lang="es-ES" sz="2000" dirty="0" smtClean="0"/>
              <a:t>comunicación </a:t>
            </a:r>
            <a:r>
              <a:rPr lang="es-ES" sz="2000" dirty="0"/>
              <a:t>en tiempo real con una latencia inferior a 100 </a:t>
            </a:r>
            <a:r>
              <a:rPr lang="es-ES" sz="2000" dirty="0" smtClean="0"/>
              <a:t>milisegundos y </a:t>
            </a:r>
            <a:r>
              <a:rPr lang="es-ES" sz="2000" dirty="0"/>
              <a:t>una tasa de refresco </a:t>
            </a:r>
            <a:r>
              <a:rPr lang="es-ES" sz="2000" dirty="0" smtClean="0"/>
              <a:t>mínima </a:t>
            </a:r>
            <a:r>
              <a:rPr lang="es-ES" sz="2000" dirty="0"/>
              <a:t>de 60 </a:t>
            </a:r>
            <a:r>
              <a:rPr lang="es-ES" sz="2000" dirty="0" err="1"/>
              <a:t>f</a:t>
            </a:r>
            <a:r>
              <a:rPr lang="es-ES" sz="2000" dirty="0" err="1" smtClean="0"/>
              <a:t>ps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019687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Validación</a:t>
            </a:r>
            <a:r>
              <a:rPr lang="en-US" sz="8000" dirty="0"/>
              <a:t> </a:t>
            </a:r>
            <a:r>
              <a:rPr lang="en-US" sz="8000" dirty="0" err="1"/>
              <a:t>Cinemática</a:t>
            </a:r>
            <a:r>
              <a:rPr lang="en-US" sz="8000" dirty="0"/>
              <a:t> de </a:t>
            </a:r>
            <a:r>
              <a:rPr lang="en-US" sz="8000" dirty="0" err="1"/>
              <a:t>Inserción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19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6"/>
            <a:ext cx="15898515" cy="2240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2500"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Pruebas en escenario de vacío para aislar comportamiento del </a:t>
            </a:r>
            <a:r>
              <a:rPr lang="es-ES" sz="4000" dirty="0" err="1"/>
              <a:t>encoder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Error </a:t>
            </a:r>
            <a:r>
              <a:rPr lang="es-ES" sz="4000" dirty="0"/>
              <a:t>promedio en avance: 3.58% (Tracción óptima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Error </a:t>
            </a:r>
            <a:r>
              <a:rPr lang="es-ES" sz="4000" dirty="0"/>
              <a:t>promedio en retroceso: 6.91% (Histéresis por patinaje mecánico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Sistema </a:t>
            </a:r>
            <a:r>
              <a:rPr lang="es-ES" sz="4000" dirty="0"/>
              <a:t>compensado paramétricamente por debajo del límite del 10%.</a:t>
            </a:r>
            <a:endParaRPr lang="es-ES" sz="4000" dirty="0" smtClean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1718"/>
          <a:stretch/>
        </p:blipFill>
        <p:spPr>
          <a:xfrm>
            <a:off x="17302036" y="1635646"/>
            <a:ext cx="5944826" cy="4715719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703" y="5351289"/>
            <a:ext cx="10769092" cy="5328065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969373" y="6585598"/>
            <a:ext cx="10665326" cy="5294843"/>
          </a:xfrm>
          <a:prstGeom prst="rect">
            <a:avLst/>
          </a:prstGeom>
        </p:spPr>
      </p:pic>
      <p:sp>
        <p:nvSpPr>
          <p:cNvPr id="18" name="Rectángulo 17"/>
          <p:cNvSpPr/>
          <p:nvPr/>
        </p:nvSpPr>
        <p:spPr>
          <a:xfrm>
            <a:off x="718948" y="11662415"/>
            <a:ext cx="1054910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5 - Correspondencia cinemática lograda con error máximo compensado menor al 10%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709913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Evaluación</a:t>
            </a:r>
            <a:r>
              <a:rPr lang="en-US" sz="8000" dirty="0"/>
              <a:t> </a:t>
            </a:r>
            <a:r>
              <a:rPr lang="en-US" sz="8000" dirty="0" err="1"/>
              <a:t>por</a:t>
            </a:r>
            <a:r>
              <a:rPr lang="en-US" sz="8000" dirty="0"/>
              <a:t> </a:t>
            </a:r>
            <a:r>
              <a:rPr lang="en-US" sz="8000" dirty="0" err="1"/>
              <a:t>Médicos</a:t>
            </a:r>
            <a:r>
              <a:rPr lang="en-US" sz="8000" dirty="0"/>
              <a:t> </a:t>
            </a:r>
            <a:r>
              <a:rPr lang="en-US" sz="8000" dirty="0" err="1"/>
              <a:t>Especialistas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20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7"/>
            <a:ext cx="19548147" cy="18494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Panel de 4 médicos especialistas en endoscopia gastroenterológica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Efectividad </a:t>
            </a:r>
            <a:r>
              <a:rPr lang="es-ES" sz="4000" dirty="0"/>
              <a:t>de penalización algorítmica calificada en 6.75/10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Recomendación </a:t>
            </a:r>
            <a:r>
              <a:rPr lang="es-ES" sz="4000" dirty="0"/>
              <a:t>global para laboratorios introductorios de 8.25/10.</a:t>
            </a:r>
            <a:endParaRPr lang="es-ES" sz="4000" dirty="0" smtClean="0"/>
          </a:p>
        </p:txBody>
      </p:sp>
      <p:sp>
        <p:nvSpPr>
          <p:cNvPr id="18" name="Rectángulo 17"/>
          <p:cNvSpPr/>
          <p:nvPr/>
        </p:nvSpPr>
        <p:spPr>
          <a:xfrm>
            <a:off x="12148948" y="11150640"/>
            <a:ext cx="1127376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 smtClean="0"/>
              <a:t>Obj</a:t>
            </a:r>
            <a:r>
              <a:rPr lang="es-ES" sz="2000" dirty="0" smtClean="0"/>
              <a:t>. 8 - Validación clínica funcional y usabilidad evaluada </a:t>
            </a:r>
            <a:r>
              <a:rPr lang="es-ES" sz="2000" dirty="0" smtClean="0"/>
              <a:t>po</a:t>
            </a:r>
            <a:r>
              <a:rPr lang="es-ES" sz="2000" dirty="0" smtClean="0"/>
              <a:t>r </a:t>
            </a:r>
            <a:r>
              <a:rPr lang="es-ES" sz="2000" dirty="0" smtClean="0"/>
              <a:t>especialistas </a:t>
            </a:r>
            <a:r>
              <a:rPr lang="es-ES" sz="2000" dirty="0" smtClean="0"/>
              <a:t>en endoscopia.</a:t>
            </a:r>
            <a:endParaRPr lang="en-US" sz="2000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95" t="35135" b="4234"/>
          <a:stretch/>
        </p:blipFill>
        <p:spPr>
          <a:xfrm>
            <a:off x="603822" y="7014533"/>
            <a:ext cx="11093569" cy="3526195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05" t="33486" b="8174"/>
          <a:stretch/>
        </p:blipFill>
        <p:spPr>
          <a:xfrm>
            <a:off x="12318415" y="7208954"/>
            <a:ext cx="10592641" cy="3317142"/>
          </a:xfrm>
          <a:prstGeom prst="rect">
            <a:avLst/>
          </a:prstGeom>
        </p:spPr>
      </p:pic>
      <p:sp>
        <p:nvSpPr>
          <p:cNvPr id="22" name="Rectángulo 21"/>
          <p:cNvSpPr/>
          <p:nvPr/>
        </p:nvSpPr>
        <p:spPr>
          <a:xfrm>
            <a:off x="718948" y="11157956"/>
            <a:ext cx="11273760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6: Módulo de retroalimentación interactiva y evaluación básica integrado</a:t>
            </a:r>
            <a:r>
              <a:rPr lang="es-ES" sz="2000" dirty="0" smtClean="0"/>
              <a:t>.</a:t>
            </a:r>
            <a:endParaRPr lang="en-US" sz="2000" dirty="0"/>
          </a:p>
        </p:txBody>
      </p:sp>
      <p:sp>
        <p:nvSpPr>
          <p:cNvPr id="19" name="Rectángulo 18"/>
          <p:cNvSpPr/>
          <p:nvPr/>
        </p:nvSpPr>
        <p:spPr>
          <a:xfrm>
            <a:off x="718948" y="5379967"/>
            <a:ext cx="1076210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BO" sz="2800" dirty="0" smtClean="0"/>
              <a:t>¿En qué medida está de acuerdo con que la penalización progresiva (</a:t>
            </a:r>
            <a:r>
              <a:rPr lang="es-BO" sz="2800" dirty="0" smtClean="0">
                <a:latin typeface="Avenir"/>
              </a:rPr>
              <a:t>advertencias</a:t>
            </a:r>
            <a:r>
              <a:rPr lang="es-BO" sz="2800" dirty="0" smtClean="0"/>
              <a:t> visuales antes de fallar) acelera la comprensión del estudiante sobre sus propios errores operativos?</a:t>
            </a:r>
            <a:endParaRPr lang="en-US" sz="2800" dirty="0"/>
          </a:p>
        </p:txBody>
      </p:sp>
      <p:sp>
        <p:nvSpPr>
          <p:cNvPr id="20" name="Rectángulo 19"/>
          <p:cNvSpPr/>
          <p:nvPr/>
        </p:nvSpPr>
        <p:spPr>
          <a:xfrm>
            <a:off x="12318415" y="5379966"/>
            <a:ext cx="10762108" cy="138499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BO" sz="2800" dirty="0" smtClean="0"/>
              <a:t>En términos generales, ¿recomendaría la integración de este simulador híbrido como un módulo introductorio en los laboratorios de habilidades clínicas universitarias?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417403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Análisis</a:t>
            </a:r>
            <a:r>
              <a:rPr lang="en-US" sz="8000" dirty="0"/>
              <a:t> de </a:t>
            </a:r>
            <a:r>
              <a:rPr lang="en-US" sz="8000" dirty="0" err="1" smtClean="0"/>
              <a:t>Costos</a:t>
            </a:r>
            <a:r>
              <a:rPr lang="en-US" sz="8000" dirty="0" smtClean="0"/>
              <a:t> (1$=9.96 </a:t>
            </a:r>
            <a:r>
              <a:rPr lang="en-US" sz="8000" dirty="0" err="1"/>
              <a:t>B</a:t>
            </a:r>
            <a:r>
              <a:rPr lang="en-US" sz="8000" dirty="0" err="1" smtClean="0"/>
              <a:t>s</a:t>
            </a:r>
            <a:r>
              <a:rPr lang="en-US" sz="8000" dirty="0" smtClean="0"/>
              <a:t>.)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21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2731896"/>
            <a:ext cx="21605547" cy="2240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Costo de desarrollo e ingeniería </a:t>
            </a:r>
            <a:r>
              <a:rPr lang="es-ES" sz="4000" dirty="0" smtClean="0"/>
              <a:t>(</a:t>
            </a:r>
            <a:r>
              <a:rPr lang="es-ES" sz="4000" dirty="0" err="1" smtClean="0"/>
              <a:t>Ingeniería+Desarrollo</a:t>
            </a:r>
            <a:r>
              <a:rPr lang="es-ES" sz="4000" dirty="0" smtClean="0"/>
              <a:t>): </a:t>
            </a:r>
            <a:r>
              <a:rPr lang="es-ES" sz="4000" dirty="0"/>
              <a:t>~27,680 Bs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Costo </a:t>
            </a:r>
            <a:r>
              <a:rPr lang="es-ES" sz="4000" dirty="0"/>
              <a:t>unitario de materiales para </a:t>
            </a:r>
            <a:r>
              <a:rPr lang="es-ES" sz="4000" dirty="0" err="1"/>
              <a:t>replicabilidad</a:t>
            </a:r>
            <a:r>
              <a:rPr lang="es-ES" sz="4000" dirty="0"/>
              <a:t>: 2,757 Bs (~279 USD</a:t>
            </a:r>
            <a:r>
              <a:rPr lang="es-ES" sz="4000" dirty="0" smtClean="0"/>
              <a:t>).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Alternativa </a:t>
            </a:r>
            <a:r>
              <a:rPr lang="es-ES" sz="4000" dirty="0"/>
              <a:t>real y accesible frente a tecnologías cerradas de importación.</a:t>
            </a:r>
            <a:endParaRPr lang="es-ES" sz="4000" dirty="0" smtClean="0"/>
          </a:p>
        </p:txBody>
      </p:sp>
      <p:graphicFrame>
        <p:nvGraphicFramePr>
          <p:cNvPr id="15" name="Tabla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82825606"/>
              </p:ext>
            </p:extLst>
          </p:nvPr>
        </p:nvGraphicFramePr>
        <p:xfrm>
          <a:off x="4953041" y="5003869"/>
          <a:ext cx="12907108" cy="590562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031089">
                  <a:extLst>
                    <a:ext uri="{9D8B030D-6E8A-4147-A177-3AD203B41FA5}">
                      <a16:colId xmlns:a16="http://schemas.microsoft.com/office/drawing/2014/main" val="524037060"/>
                    </a:ext>
                  </a:extLst>
                </a:gridCol>
                <a:gridCol w="4876019">
                  <a:extLst>
                    <a:ext uri="{9D8B030D-6E8A-4147-A177-3AD203B41FA5}">
                      <a16:colId xmlns:a16="http://schemas.microsoft.com/office/drawing/2014/main" val="4011297944"/>
                    </a:ext>
                  </a:extLst>
                </a:gridCol>
              </a:tblGrid>
              <a:tr h="867259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3200" b="1" u="none" strike="noStrike" dirty="0" err="1">
                          <a:effectLst/>
                        </a:rPr>
                        <a:t>Categoría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b="1" u="none" strike="noStrike" dirty="0">
                          <a:effectLst/>
                        </a:rPr>
                        <a:t>Total (</a:t>
                      </a:r>
                      <a:r>
                        <a:rPr lang="en-US" sz="3200" b="1" u="none" strike="noStrike" dirty="0" err="1">
                          <a:effectLst/>
                        </a:rPr>
                        <a:t>Bs</a:t>
                      </a:r>
                      <a:r>
                        <a:rPr lang="en-US" sz="3200" b="1" u="none" strike="noStrike" dirty="0">
                          <a:effectLst/>
                        </a:rPr>
                        <a:t>.)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86255147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Materiales</a:t>
                      </a:r>
                      <a:r>
                        <a:rPr lang="en-US" sz="3200" b="1" u="none" strike="noStrike" dirty="0">
                          <a:effectLst/>
                        </a:rPr>
                        <a:t> </a:t>
                      </a:r>
                      <a:r>
                        <a:rPr lang="en-US" sz="3200" b="1" u="none" strike="noStrike" dirty="0" err="1">
                          <a:effectLst/>
                        </a:rPr>
                        <a:t>electrónicos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369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8181242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Módulo</a:t>
                      </a:r>
                      <a:r>
                        <a:rPr lang="en-US" sz="3200" b="1" u="none" strike="noStrike" dirty="0">
                          <a:effectLst/>
                        </a:rPr>
                        <a:t> sensorial y </a:t>
                      </a:r>
                      <a:r>
                        <a:rPr lang="en-US" sz="3200" b="1" u="none" strike="noStrike" dirty="0" err="1">
                          <a:effectLst/>
                        </a:rPr>
                        <a:t>háptico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80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66325283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Materiales</a:t>
                      </a:r>
                      <a:r>
                        <a:rPr lang="en-US" sz="3200" b="1" u="none" strike="noStrike" dirty="0">
                          <a:effectLst/>
                        </a:rPr>
                        <a:t> </a:t>
                      </a:r>
                      <a:r>
                        <a:rPr lang="en-US" sz="3200" b="1" u="none" strike="noStrike" dirty="0" err="1">
                          <a:effectLst/>
                        </a:rPr>
                        <a:t>mecánicos</a:t>
                      </a:r>
                      <a:r>
                        <a:rPr lang="en-US" sz="3200" b="1" u="none" strike="noStrike" dirty="0">
                          <a:effectLst/>
                        </a:rPr>
                        <a:t> y </a:t>
                      </a:r>
                      <a:r>
                        <a:rPr lang="en-US" sz="3200" b="1" u="none" strike="noStrike" dirty="0" err="1">
                          <a:effectLst/>
                        </a:rPr>
                        <a:t>fabricación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2158</a:t>
                      </a:r>
                      <a:endParaRPr lang="en-US" sz="3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2159592"/>
                  </a:ext>
                </a:extLst>
              </a:tr>
              <a:tr h="825961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Fabricación</a:t>
                      </a:r>
                      <a:r>
                        <a:rPr lang="en-US" sz="3200" b="1" u="none" strike="noStrike" dirty="0">
                          <a:effectLst/>
                        </a:rPr>
                        <a:t> externa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>
                          <a:effectLst/>
                        </a:rPr>
                        <a:t>150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260364"/>
                  </a:ext>
                </a:extLst>
              </a:tr>
              <a:tr h="867259">
                <a:tc>
                  <a:txBody>
                    <a:bodyPr/>
                    <a:lstStyle/>
                    <a:p>
                      <a:pPr algn="l" fontAlgn="ctr"/>
                      <a:r>
                        <a:rPr lang="es-ES" sz="3200" b="1" u="none" strike="noStrike" dirty="0">
                          <a:effectLst/>
                        </a:rPr>
                        <a:t>Mano de obra y desarrollo</a:t>
                      </a:r>
                      <a:endParaRPr lang="es-E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>
                          <a:effectLst/>
                        </a:rPr>
                        <a:t>27680</a:t>
                      </a:r>
                      <a:endParaRPr lang="en-US" sz="32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6390470"/>
                  </a:ext>
                </a:extLst>
              </a:tr>
              <a:tr h="867259">
                <a:tc>
                  <a:txBody>
                    <a:bodyPr/>
                    <a:lstStyle/>
                    <a:p>
                      <a:pPr algn="l" fontAlgn="ctr"/>
                      <a:r>
                        <a:rPr lang="en-US" sz="3200" b="1" u="none" strike="noStrike" dirty="0" err="1">
                          <a:effectLst/>
                        </a:rPr>
                        <a:t>Costo</a:t>
                      </a:r>
                      <a:r>
                        <a:rPr lang="en-US" sz="3200" b="1" u="none" strike="noStrike" dirty="0">
                          <a:effectLst/>
                        </a:rPr>
                        <a:t> total del </a:t>
                      </a:r>
                      <a:r>
                        <a:rPr lang="en-US" sz="3200" b="1" u="none" strike="noStrike" dirty="0" err="1">
                          <a:effectLst/>
                        </a:rPr>
                        <a:t>prototipo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sz="3200" u="none" strike="noStrike" dirty="0">
                          <a:effectLst/>
                        </a:rPr>
                        <a:t>30437 </a:t>
                      </a:r>
                      <a:r>
                        <a:rPr lang="en-US" sz="3200" u="none" strike="noStrike" dirty="0" err="1">
                          <a:effectLst/>
                        </a:rPr>
                        <a:t>Bs</a:t>
                      </a:r>
                      <a:r>
                        <a:rPr lang="en-US" sz="3200" u="none" strike="noStrike" dirty="0">
                          <a:effectLst/>
                        </a:rPr>
                        <a:t>.</a:t>
                      </a:r>
                      <a:endParaRPr lang="en-US" sz="32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95970838"/>
                  </a:ext>
                </a:extLst>
              </a:tr>
            </a:tbl>
          </a:graphicData>
        </a:graphic>
      </p:graphicFrame>
      <p:sp>
        <p:nvSpPr>
          <p:cNvPr id="16" name="Rectángulo 15"/>
          <p:cNvSpPr/>
          <p:nvPr/>
        </p:nvSpPr>
        <p:spPr>
          <a:xfrm>
            <a:off x="718948" y="11662415"/>
            <a:ext cx="13120144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2000" dirty="0" err="1"/>
              <a:t>Obj</a:t>
            </a:r>
            <a:r>
              <a:rPr lang="es-ES" sz="2000" dirty="0"/>
              <a:t>. 7 - Análisis financiero que demuestra una reducción de costos </a:t>
            </a:r>
            <a:r>
              <a:rPr lang="es-ES" sz="2000" dirty="0" smtClean="0"/>
              <a:t>frente </a:t>
            </a:r>
            <a:r>
              <a:rPr lang="es-ES" sz="2000" dirty="0"/>
              <a:t>al mercado comercial.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930055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 smtClean="0"/>
              <a:t>Conclusiones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22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519489"/>
            <a:ext cx="23054478" cy="6619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lnSpcReduction="10000"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Viabilidad Mecatrónica: Se logró el diseño de un simulador funcional con un costo de materiales de 2,757 Bs, representando una alternativa económicamente viable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Sincronización</a:t>
            </a:r>
            <a:r>
              <a:rPr lang="es-ES" sz="4000" dirty="0"/>
              <a:t>: La telemetría asíncrona garantizó una latencia promedio de 16.04 ms y 60 FPS estables, eliminando la desorientación sensorial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Precisión </a:t>
            </a:r>
            <a:r>
              <a:rPr lang="es-ES" sz="4000" dirty="0"/>
              <a:t>de </a:t>
            </a:r>
            <a:r>
              <a:rPr lang="es-ES" sz="4000" dirty="0" err="1"/>
              <a:t>Sensado</a:t>
            </a:r>
            <a:r>
              <a:rPr lang="es-ES" sz="4000" dirty="0"/>
              <a:t>: El filtrado híbrido redujo el error de botones a 0%, el </a:t>
            </a:r>
            <a:r>
              <a:rPr lang="es-ES" sz="4000" dirty="0" err="1"/>
              <a:t>encoder</a:t>
            </a:r>
            <a:r>
              <a:rPr lang="es-ES" sz="4000" dirty="0"/>
              <a:t> a 2% y mantuvo una desviación angular máxima de 0.18</a:t>
            </a:r>
            <a:r>
              <a:rPr lang="es-ES" sz="4000" dirty="0" smtClean="0"/>
              <a:t>°.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Validación </a:t>
            </a:r>
            <a:r>
              <a:rPr lang="es-ES" sz="4000" dirty="0"/>
              <a:t>Clínica: El panel de 4 especialistas evaluó el sistema con 8.25/10 para su integración en laboratorios introductorios.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17096649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718948" y="1678889"/>
            <a:ext cx="22860001" cy="1016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 fontScale="90000"/>
          </a:bodyPr>
          <a:lstStyle/>
          <a:p>
            <a:pPr lvl="0">
              <a:spcBef>
                <a:spcPts val="0"/>
              </a:spcBef>
              <a:buSzPts val="7221"/>
            </a:pPr>
            <a:r>
              <a:rPr lang="en-US" sz="8000" dirty="0" err="1"/>
              <a:t>Trabajo</a:t>
            </a:r>
            <a:r>
              <a:rPr lang="en-US" sz="8000" dirty="0"/>
              <a:t> </a:t>
            </a:r>
            <a:r>
              <a:rPr lang="en-US" sz="8000" dirty="0" err="1"/>
              <a:t>Futuro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  <p:sp>
        <p:nvSpPr>
          <p:cNvPr id="13" name="Google Shape;98;p2"/>
          <p:cNvSpPr txBox="1">
            <a:spLocks noGrp="1"/>
          </p:cNvSpPr>
          <p:nvPr>
            <p:ph type="body" idx="2"/>
          </p:nvPr>
        </p:nvSpPr>
        <p:spPr>
          <a:xfrm>
            <a:off x="603822" y="3519489"/>
            <a:ext cx="23054478" cy="66198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/>
              <a:t>Materiales </a:t>
            </a:r>
            <a:r>
              <a:rPr lang="es-ES" sz="4000" dirty="0" err="1"/>
              <a:t>Biocompatibles</a:t>
            </a:r>
            <a:r>
              <a:rPr lang="es-ES" sz="4000" dirty="0"/>
              <a:t>: Transición del PLA hacia elastómeros de silicona (Shore 00) y recubrimientos de teflón para replicar la resistencia de la mucosa intestinal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Retroalimentación </a:t>
            </a:r>
            <a:r>
              <a:rPr lang="es-ES" sz="4000" dirty="0"/>
              <a:t>Activa: Integración de motores de </a:t>
            </a:r>
            <a:r>
              <a:rPr lang="es-ES" sz="4000" dirty="0" err="1"/>
              <a:t>Force</a:t>
            </a:r>
            <a:r>
              <a:rPr lang="es-ES" sz="4000" dirty="0"/>
              <a:t> </a:t>
            </a:r>
            <a:r>
              <a:rPr lang="es-ES" sz="4000" dirty="0" err="1"/>
              <a:t>Feedback</a:t>
            </a:r>
            <a:r>
              <a:rPr lang="es-ES" sz="4000" dirty="0"/>
              <a:t> y celdas de carga para emular la inversión de torque y la resistencia anatómica profunda</a:t>
            </a:r>
            <a:r>
              <a:rPr lang="es-ES" sz="4000" dirty="0" smtClean="0"/>
              <a:t>.</a:t>
            </a:r>
          </a:p>
          <a:p>
            <a:pPr marL="635000" lvl="0" indent="-635000">
              <a:spcBef>
                <a:spcPts val="0"/>
              </a:spcBef>
              <a:buSzPts val="5040"/>
            </a:pPr>
            <a:endParaRPr lang="es-ES" sz="4000" dirty="0" smtClean="0"/>
          </a:p>
          <a:p>
            <a:pPr marL="635000" lvl="0" indent="-635000">
              <a:spcBef>
                <a:spcPts val="0"/>
              </a:spcBef>
              <a:buSzPts val="5040"/>
            </a:pPr>
            <a:r>
              <a:rPr lang="es-ES" sz="4000" dirty="0" smtClean="0"/>
              <a:t>Motor </a:t>
            </a:r>
            <a:r>
              <a:rPr lang="es-ES" sz="4000" dirty="0"/>
              <a:t>de Físicas Avanzado: Migración a dinámicas de cuerpos blandos (</a:t>
            </a:r>
            <a:r>
              <a:rPr lang="es-ES" sz="4000" dirty="0" err="1"/>
              <a:t>Soft-Body</a:t>
            </a:r>
            <a:r>
              <a:rPr lang="es-ES" sz="4000" dirty="0"/>
              <a:t> Dynamics) en </a:t>
            </a:r>
            <a:r>
              <a:rPr lang="es-ES" sz="4000" dirty="0" err="1"/>
              <a:t>Unity</a:t>
            </a:r>
            <a:r>
              <a:rPr lang="es-ES" sz="4000" dirty="0"/>
              <a:t> para deformación plástica realista de los pólipos.</a:t>
            </a:r>
            <a:endParaRPr lang="es-ES" sz="4000" dirty="0" smtClean="0"/>
          </a:p>
        </p:txBody>
      </p:sp>
    </p:spTree>
    <p:extLst>
      <p:ext uri="{BB962C8B-B14F-4D97-AF65-F5344CB8AC3E}">
        <p14:creationId xmlns:p14="http://schemas.microsoft.com/office/powerpoint/2010/main" val="1667777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/>
          <p:nvPr/>
        </p:nvSpPr>
        <p:spPr>
          <a:xfrm>
            <a:off x="-20320" y="12175294"/>
            <a:ext cx="24419546" cy="1558061"/>
          </a:xfrm>
          <a:prstGeom prst="rect">
            <a:avLst/>
          </a:prstGeom>
          <a:solidFill>
            <a:srgbClr val="585858"/>
          </a:solidFill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ct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Arial"/>
              <a:buNone/>
            </a:pPr>
            <a:endParaRPr sz="3000" b="0" i="0" u="none" strike="noStrike" cap="none">
              <a:solidFill>
                <a:schemeClr val="accent5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cxnSp>
        <p:nvCxnSpPr>
          <p:cNvPr id="95" name="Google Shape;95;p2"/>
          <p:cNvCxnSpPr/>
          <p:nvPr/>
        </p:nvCxnSpPr>
        <p:spPr>
          <a:xfrm>
            <a:off x="603835" y="1438933"/>
            <a:ext cx="22851481" cy="1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96" name="Google Shape;96;p2"/>
          <p:cNvSpPr txBox="1"/>
          <p:nvPr/>
        </p:nvSpPr>
        <p:spPr>
          <a:xfrm>
            <a:off x="603822" y="634650"/>
            <a:ext cx="6541500" cy="56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000"/>
              <a:buFont typeface="Avenir"/>
              <a:buNone/>
            </a:pPr>
            <a:r>
              <a:rPr lang="en-US" sz="30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TALLER DE GRADO </a:t>
            </a:r>
            <a:r>
              <a:rPr lang="en-US" sz="30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1</a:t>
            </a:r>
            <a:r>
              <a:rPr lang="en-US" sz="3000" b="1" i="0" u="none" strike="noStrike" cap="none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-202</a:t>
            </a:r>
            <a:r>
              <a:rPr lang="en-US" sz="30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6</a:t>
            </a:r>
            <a:endParaRPr sz="3000" b="1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97" name="Google Shape;97;p2"/>
          <p:cNvSpPr txBox="1">
            <a:spLocks noGrp="1"/>
          </p:cNvSpPr>
          <p:nvPr>
            <p:ph type="title"/>
          </p:nvPr>
        </p:nvSpPr>
        <p:spPr>
          <a:xfrm>
            <a:off x="4961166" y="4584704"/>
            <a:ext cx="14456574" cy="3134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rmAutofit/>
          </a:bodyPr>
          <a:lstStyle/>
          <a:p>
            <a:pPr lvl="0" algn="ctr">
              <a:spcBef>
                <a:spcPts val="0"/>
              </a:spcBef>
              <a:buSzPts val="7221"/>
            </a:pPr>
            <a:r>
              <a:rPr lang="es-ES" dirty="0" smtClean="0"/>
              <a:t/>
            </a:r>
            <a:br>
              <a:rPr lang="es-ES" dirty="0" smtClean="0"/>
            </a:br>
            <a:r>
              <a:rPr lang="es-ES" sz="11500" dirty="0" smtClean="0"/>
              <a:t>Muchas </a:t>
            </a:r>
            <a:r>
              <a:rPr lang="es-ES" sz="11500" dirty="0" smtClean="0"/>
              <a:t>Gracias.</a:t>
            </a:r>
            <a:endParaRPr dirty="0"/>
          </a:p>
        </p:txBody>
      </p:sp>
      <p:sp>
        <p:nvSpPr>
          <p:cNvPr id="99" name="Google Shape;99;p2"/>
          <p:cNvSpPr txBox="1"/>
          <p:nvPr/>
        </p:nvSpPr>
        <p:spPr>
          <a:xfrm>
            <a:off x="14665569" y="98492"/>
            <a:ext cx="8992731" cy="130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spAutoFit/>
          </a:bodyPr>
          <a:lstStyle/>
          <a:p>
            <a:pPr lvl="0" algn="r">
              <a:buClr>
                <a:srgbClr val="838787"/>
              </a:buClr>
              <a:buSzPts val="3000"/>
            </a:pPr>
            <a:r>
              <a:rPr lang="en-US" sz="24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Alejandro Eduardo Albarracin </a:t>
            </a:r>
            <a:r>
              <a:rPr lang="en-US" sz="2400" b="1" dirty="0" smtClean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Rodriguez</a:t>
            </a:r>
          </a:p>
          <a:p>
            <a:pPr lvl="0" algn="r">
              <a:buClr>
                <a:srgbClr val="838787"/>
              </a:buClr>
              <a:buSzPts val="30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TUTOR: Guillermo Enrique Manning Soria </a:t>
            </a:r>
            <a:r>
              <a:rPr lang="en-US" sz="1800" b="1" dirty="0" err="1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Galvarro</a:t>
            </a:r>
            <a:endParaRPr sz="1800" b="1" i="0" u="none" strike="noStrike" cap="none" dirty="0" smtClean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lvl="0" algn="r">
              <a:buClr>
                <a:srgbClr val="838787"/>
              </a:buClr>
              <a:buSzPts val="2400"/>
            </a:pPr>
            <a:r>
              <a:rPr lang="en-US" sz="1800" b="1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PANELISTA: Xavier Alexis Murillo Sanchez</a:t>
            </a:r>
            <a:endParaRPr sz="1800" b="1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2400"/>
              <a:buFont typeface="Avenir"/>
              <a:buNone/>
            </a:pPr>
            <a:r>
              <a:rPr lang="en-US" sz="1800" b="1" i="0" u="none" strike="noStrike" cap="none" dirty="0">
                <a:solidFill>
                  <a:srgbClr val="838787"/>
                </a:solidFill>
                <a:latin typeface="Avenir"/>
                <a:ea typeface="Avenir"/>
                <a:cs typeface="Avenir"/>
                <a:sym typeface="Avenir"/>
              </a:rPr>
              <a:t>RELATOR:</a:t>
            </a:r>
            <a:endParaRPr sz="1800" b="0" i="0" u="none" strike="noStrike" cap="none" dirty="0">
              <a:solidFill>
                <a:srgbClr val="838787"/>
              </a:solidFill>
              <a:latin typeface="Avenir"/>
              <a:ea typeface="Avenir"/>
              <a:cs typeface="Avenir"/>
              <a:sym typeface="Avenir"/>
            </a:endParaRPr>
          </a:p>
        </p:txBody>
      </p:sp>
      <p:sp>
        <p:nvSpPr>
          <p:cNvPr id="100" name="Google Shape;100;p2"/>
          <p:cNvSpPr txBox="1">
            <a:spLocks noGrp="1"/>
          </p:cNvSpPr>
          <p:nvPr>
            <p:ph type="sldNum" idx="12"/>
          </p:nvPr>
        </p:nvSpPr>
        <p:spPr>
          <a:xfrm>
            <a:off x="23455316" y="11395271"/>
            <a:ext cx="827085" cy="545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spAutoFit/>
          </a:bodyPr>
          <a:lstStyle/>
          <a:p>
            <a:pPr marL="0" lvl="0" indent="0" algn="r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838787"/>
              </a:buClr>
              <a:buSzPts val="3600"/>
              <a:buFont typeface="Arial"/>
              <a:buNone/>
            </a:pPr>
            <a:fld id="{00000000-1234-1234-1234-123412341234}" type="slidenum">
              <a:rPr lang="en-US"/>
              <a:t>24</a:t>
            </a:fld>
            <a:endParaRPr/>
          </a:p>
        </p:txBody>
      </p:sp>
      <p:pic>
        <p:nvPicPr>
          <p:cNvPr id="3" name="Imagen 2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CE77B1B9-62AA-1DC0-3355-D46946962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89453" y="11350695"/>
            <a:ext cx="3166617" cy="3166617"/>
          </a:xfrm>
          <a:prstGeom prst="rect">
            <a:avLst/>
          </a:prstGeom>
        </p:spPr>
      </p:pic>
      <p:pic>
        <p:nvPicPr>
          <p:cNvPr id="7" name="Imagen 6" descr="Imagen que contiene Texto&#10;&#10;El contenido generado por IA puede ser incorrecto.">
            <a:extLst>
              <a:ext uri="{FF2B5EF4-FFF2-40B4-BE49-F238E27FC236}">
                <a16:creationId xmlns:a16="http://schemas.microsoft.com/office/drawing/2014/main" id="{9744A220-7415-A39D-436C-2EF310186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5370" y="12225687"/>
            <a:ext cx="3363578" cy="1416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89878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New_Template7">
  <a:themeElements>
    <a:clrScheme name="New_Template7">
      <a:dk1>
        <a:srgbClr val="222222"/>
      </a:dk1>
      <a:lt1>
        <a:srgbClr val="838787"/>
      </a:lt1>
      <a:dk2>
        <a:srgbClr val="222222"/>
      </a:dk2>
      <a:lt2>
        <a:srgbClr val="A6AAA9"/>
      </a:lt2>
      <a:accent1>
        <a:srgbClr val="34A5DA"/>
      </a:accent1>
      <a:accent2>
        <a:srgbClr val="3F969A"/>
      </a:accent2>
      <a:accent3>
        <a:srgbClr val="8ABE5E"/>
      </a:accent3>
      <a:accent4>
        <a:srgbClr val="FDCB56"/>
      </a:accent4>
      <a:accent5>
        <a:srgbClr val="E42832"/>
      </a:accent5>
      <a:accent6>
        <a:srgbClr val="C5206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ew_Template7">
  <a:themeElements>
    <a:clrScheme name="New_Template7">
      <a:dk1>
        <a:srgbClr val="000000"/>
      </a:dk1>
      <a:lt1>
        <a:srgbClr val="FFFFFF"/>
      </a:lt1>
      <a:dk2>
        <a:srgbClr val="222222"/>
      </a:dk2>
      <a:lt2>
        <a:srgbClr val="A6AAA9"/>
      </a:lt2>
      <a:accent1>
        <a:srgbClr val="34A5DA"/>
      </a:accent1>
      <a:accent2>
        <a:srgbClr val="3F969A"/>
      </a:accent2>
      <a:accent3>
        <a:srgbClr val="8ABE5E"/>
      </a:accent3>
      <a:accent4>
        <a:srgbClr val="FDCB56"/>
      </a:accent4>
      <a:accent5>
        <a:srgbClr val="E42832"/>
      </a:accent5>
      <a:accent6>
        <a:srgbClr val="C52060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7599</TotalTime>
  <Words>1848</Words>
  <Application>Microsoft Office PowerPoint</Application>
  <PresentationFormat>Personalizado</PresentationFormat>
  <Paragraphs>271</Paragraphs>
  <Slides>24</Slides>
  <Notes>24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30" baseType="lpstr">
      <vt:lpstr>Arial</vt:lpstr>
      <vt:lpstr>-apple-system</vt:lpstr>
      <vt:lpstr>Calibri</vt:lpstr>
      <vt:lpstr>Avenir</vt:lpstr>
      <vt:lpstr>Helvetica Neue</vt:lpstr>
      <vt:lpstr>New_Template7</vt:lpstr>
      <vt:lpstr>Simulador híbrido físico-virtual para el entrenamiento de resección de pólipos intestinales</vt:lpstr>
      <vt:lpstr>Introducción</vt:lpstr>
      <vt:lpstr>Planteamiento del Problema</vt:lpstr>
      <vt:lpstr>Objetivo General</vt:lpstr>
      <vt:lpstr>Estado del Arte y Ventaja Competitiva</vt:lpstr>
      <vt:lpstr>Arquitectura Híbrida Físico-Virtual</vt:lpstr>
      <vt:lpstr>Arquitectura Electrónica Embebida</vt:lpstr>
      <vt:lpstr>Sensado Magnético de Efecto Hall</vt:lpstr>
      <vt:lpstr>Filtrado Analógico y Digital</vt:lpstr>
      <vt:lpstr>Diseño Mecánico y Tren Cinemático</vt:lpstr>
      <vt:lpstr>Cinemática de Inserción Longitudinal</vt:lpstr>
      <vt:lpstr>Sincronización y Telemetría </vt:lpstr>
      <vt:lpstr>Cinemática Virtual (Interpolación Slerp)</vt:lpstr>
      <vt:lpstr>Generación Procedural y Clasificación de Yamada</vt:lpstr>
      <vt:lpstr>Máquina de Estados Finita Quirúrgica (FSM)</vt:lpstr>
      <vt:lpstr>Motor de Fluidos y Evaluación Ponderada</vt:lpstr>
      <vt:lpstr>Fiabilidad de Sensado y Desviación Angular</vt:lpstr>
      <vt:lpstr>Tiempos de Latencia y Renderizado</vt:lpstr>
      <vt:lpstr>Validación Cinemática de Inserción</vt:lpstr>
      <vt:lpstr>Evaluación por Médicos Especialistas</vt:lpstr>
      <vt:lpstr>Análisis de Costos (1$=9.96 Bs.)</vt:lpstr>
      <vt:lpstr>Conclusiones</vt:lpstr>
      <vt:lpstr>Trabajo Futuro</vt:lpstr>
      <vt:lpstr> Muchas Gracias.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Simulador Híbrido Físico-Virtual para el Entrenamiento de Resección de Pólipos Intestinales</dc:title>
  <dc:creator>MiguelAngel</dc:creator>
  <cp:lastModifiedBy>Alejandro Eduardo Albarracin Rodriguez</cp:lastModifiedBy>
  <cp:revision>66</cp:revision>
  <dcterms:modified xsi:type="dcterms:W3CDTF">2026-06-24T15:22:23Z</dcterms:modified>
</cp:coreProperties>
</file>